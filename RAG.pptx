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70" r:id="rId13"/>
    <p:sldId id="273" r:id="rId14"/>
    <p:sldId id="275" r:id="rId15"/>
  </p:sldIdLst>
  <p:sldSz cx="14630400" cy="8229600"/>
  <p:notesSz cx="8229600" cy="14630400"/>
  <p:embeddedFontLst>
    <p:embeddedFont>
      <p:font typeface="DM Sans Medium" pitchFamily="2" charset="0"/>
      <p:regular r:id="rId17"/>
    </p:embeddedFont>
    <p:embeddedFont>
      <p:font typeface="Inter"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640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00000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91667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Retrieval-Augmented Generation (RAG)</a:t>
            </a:r>
            <a:endParaRPr lang="en-US" sz="3900" dirty="0"/>
          </a:p>
        </p:txBody>
      </p:sp>
      <p:sp>
        <p:nvSpPr>
          <p:cNvPr id="4" name="Text 1"/>
          <p:cNvSpPr/>
          <p:nvPr/>
        </p:nvSpPr>
        <p:spPr>
          <a:xfrm>
            <a:off x="6280190" y="4454485"/>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Integrating Retrieval with Generative AI for Accurate and Reliable Systems</a:t>
            </a:r>
            <a:endParaRPr lang="en-US" sz="1550" dirty="0"/>
          </a:p>
        </p:txBody>
      </p:sp>
      <p:sp>
        <p:nvSpPr>
          <p:cNvPr id="5" name="Text 2"/>
          <p:cNvSpPr/>
          <p:nvPr/>
        </p:nvSpPr>
        <p:spPr>
          <a:xfrm>
            <a:off x="6280190" y="4995267"/>
            <a:ext cx="7556421" cy="317540"/>
          </a:xfrm>
          <a:prstGeom prst="rect">
            <a:avLst/>
          </a:prstGeom>
          <a:noFill/>
          <a:ln/>
        </p:spPr>
        <p:txBody>
          <a:bodyPr wrap="none" lIns="0" tIns="0" rIns="0" bIns="0" rtlCol="0" anchor="t"/>
          <a:lstStyle/>
          <a:p>
            <a:pPr marL="0" indent="0" algn="r">
              <a:lnSpc>
                <a:spcPts val="2500"/>
              </a:lnSpc>
              <a:buNone/>
            </a:pPr>
            <a:r>
              <a:rPr lang="en-US" sz="1550">
                <a:solidFill>
                  <a:srgbClr val="161613"/>
                </a:solidFill>
                <a:latin typeface="Inter" pitchFamily="34" charset="0"/>
                <a:ea typeface="Inter" pitchFamily="34" charset="-122"/>
              </a:rPr>
              <a:t>Vaishnavi Kompella</a:t>
            </a:r>
          </a:p>
          <a:p>
            <a:pPr marL="0" indent="0" algn="r">
              <a:lnSpc>
                <a:spcPts val="2500"/>
              </a:lnSpc>
              <a:buNone/>
            </a:pPr>
            <a:endParaRPr lang="en-US" sz="1550" dirty="0"/>
          </a:p>
        </p:txBody>
      </p:sp>
      <p:sp>
        <p:nvSpPr>
          <p:cNvPr id="6" name="Rectangle 5">
            <a:extLst>
              <a:ext uri="{FF2B5EF4-FFF2-40B4-BE49-F238E27FC236}">
                <a16:creationId xmlns:a16="http://schemas.microsoft.com/office/drawing/2014/main" id="{4743DDBE-948C-CBCA-1C56-C75F182E80DE}"/>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86714"/>
            <a:ext cx="5599390" cy="620078"/>
          </a:xfrm>
          <a:prstGeom prst="rect">
            <a:avLst/>
          </a:prstGeom>
          <a:noFill/>
          <a:ln/>
        </p:spPr>
        <p:txBody>
          <a:bodyPr wrap="none" lIns="0" tIns="0" rIns="0" bIns="0" rtlCol="0" anchor="t"/>
          <a:lstStyle/>
          <a:p>
            <a:pPr>
              <a:lnSpc>
                <a:spcPts val="4850"/>
              </a:lnSpc>
            </a:pPr>
            <a:r>
              <a:rPr lang="en-US" sz="3900" dirty="0">
                <a:solidFill>
                  <a:srgbClr val="161613"/>
                </a:solidFill>
                <a:latin typeface="DM Sans Medium" pitchFamily="34" charset="0"/>
                <a:ea typeface="DM Sans Medium" pitchFamily="34" charset="-122"/>
                <a:cs typeface="DM Sans Medium" pitchFamily="34" charset="-120"/>
              </a:rPr>
              <a:t>Retrieval-Augmented Generation (RAG)</a:t>
            </a:r>
            <a:endParaRPr lang="en-US" sz="3900" dirty="0"/>
          </a:p>
        </p:txBody>
      </p:sp>
      <p:sp>
        <p:nvSpPr>
          <p:cNvPr id="3" name="Text 1"/>
          <p:cNvSpPr/>
          <p:nvPr/>
        </p:nvSpPr>
        <p:spPr>
          <a:xfrm>
            <a:off x="793790" y="3303627"/>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Introduction to RAG</a:t>
            </a:r>
            <a:endParaRPr lang="en-US" sz="1550" dirty="0"/>
          </a:p>
        </p:txBody>
      </p:sp>
      <p:sp>
        <p:nvSpPr>
          <p:cNvPr id="4" name="Text 2"/>
          <p:cNvSpPr/>
          <p:nvPr/>
        </p:nvSpPr>
        <p:spPr>
          <a:xfrm>
            <a:off x="793790" y="3690580"/>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The Necessity of RAG in Modern AI</a:t>
            </a:r>
            <a:endParaRPr lang="en-US" sz="1550" dirty="0"/>
          </a:p>
        </p:txBody>
      </p:sp>
      <p:sp>
        <p:nvSpPr>
          <p:cNvPr id="5" name="Text 3"/>
          <p:cNvSpPr/>
          <p:nvPr/>
        </p:nvSpPr>
        <p:spPr>
          <a:xfrm>
            <a:off x="793790" y="407753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Understanding RAG Architecture and Components</a:t>
            </a:r>
            <a:endParaRPr lang="en-US" sz="1550" dirty="0"/>
          </a:p>
        </p:txBody>
      </p:sp>
      <p:sp>
        <p:nvSpPr>
          <p:cNvPr id="6" name="Text 4"/>
          <p:cNvSpPr/>
          <p:nvPr/>
        </p:nvSpPr>
        <p:spPr>
          <a:xfrm>
            <a:off x="793790" y="4464487"/>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Diving into RAG's Step-by-Step Workflow</a:t>
            </a:r>
            <a:endParaRPr lang="en-US" sz="1550" dirty="0"/>
          </a:p>
        </p:txBody>
      </p:sp>
      <p:sp>
        <p:nvSpPr>
          <p:cNvPr id="7" name="Text 5"/>
          <p:cNvSpPr/>
          <p:nvPr/>
        </p:nvSpPr>
        <p:spPr>
          <a:xfrm>
            <a:off x="793790" y="4851440"/>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Comparing RAG with Traditional Approaches</a:t>
            </a:r>
            <a:endParaRPr lang="en-US" sz="1550" dirty="0"/>
          </a:p>
        </p:txBody>
      </p:sp>
      <p:sp>
        <p:nvSpPr>
          <p:cNvPr id="8" name="Text 6"/>
          <p:cNvSpPr/>
          <p:nvPr/>
        </p:nvSpPr>
        <p:spPr>
          <a:xfrm>
            <a:off x="793790" y="523839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Advantages, Limitations, and Security Considerations</a:t>
            </a:r>
            <a:endParaRPr lang="en-US" sz="1550" dirty="0"/>
          </a:p>
        </p:txBody>
      </p:sp>
      <p:sp>
        <p:nvSpPr>
          <p:cNvPr id="9" name="Text 7"/>
          <p:cNvSpPr/>
          <p:nvPr/>
        </p:nvSpPr>
        <p:spPr>
          <a:xfrm>
            <a:off x="793790" y="562534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t>RAG vs Finetuning</a:t>
            </a:r>
          </a:p>
          <a:p>
            <a:pPr marL="342900" indent="-342900" algn="l">
              <a:lnSpc>
                <a:spcPts val="2500"/>
              </a:lnSpc>
              <a:buSzPct val="100000"/>
              <a:buChar char="•"/>
            </a:pPr>
            <a:endParaRPr lang="en-US" sz="1550" dirty="0"/>
          </a:p>
        </p:txBody>
      </p:sp>
      <p:sp>
        <p:nvSpPr>
          <p:cNvPr id="10" name="Rectangle 9">
            <a:extLst>
              <a:ext uri="{FF2B5EF4-FFF2-40B4-BE49-F238E27FC236}">
                <a16:creationId xmlns:a16="http://schemas.microsoft.com/office/drawing/2014/main" id="{2D4105D4-7D8C-43CB-5500-40285F7E8AF7}"/>
              </a:ext>
            </a:extLst>
          </p:cNvPr>
          <p:cNvSpPr/>
          <p:nvPr/>
        </p:nvSpPr>
        <p:spPr>
          <a:xfrm>
            <a:off x="12879659" y="7805853"/>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E06DEED-D2A4-9246-FCA1-54D4FEDA8CFF}"/>
              </a:ext>
            </a:extLst>
          </p:cNvPr>
          <p:cNvSpPr txBox="1"/>
          <p:nvPr/>
        </p:nvSpPr>
        <p:spPr>
          <a:xfrm>
            <a:off x="683012" y="5983327"/>
            <a:ext cx="7320774" cy="392480"/>
          </a:xfrm>
          <a:prstGeom prst="rect">
            <a:avLst/>
          </a:prstGeom>
          <a:noFill/>
        </p:spPr>
        <p:txBody>
          <a:bodyPr wrap="square">
            <a:spAutoFit/>
          </a:bodyPr>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Real-World Applications and Future Outlook</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62063"/>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Introduction to Retrieval-Augmented Generation (RAG)</a:t>
            </a:r>
            <a:endParaRPr lang="en-US" sz="3900" dirty="0"/>
          </a:p>
        </p:txBody>
      </p:sp>
      <p:sp>
        <p:nvSpPr>
          <p:cNvPr id="4" name="Text 1"/>
          <p:cNvSpPr/>
          <p:nvPr/>
        </p:nvSpPr>
        <p:spPr>
          <a:xfrm>
            <a:off x="6280190" y="2978468"/>
            <a:ext cx="3536156" cy="3492937"/>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RAG is a ground-breaking hybrid AI architecture that synergizes the power of information retrieval with advanced generative models. Unlike traditional Large Language Models (LLMs) that rely solely on their pre-trained, static internal knowledge, RAG dynamically fetches </a:t>
            </a:r>
            <a:r>
              <a:rPr lang="en-US" sz="1550" dirty="0">
                <a:solidFill>
                  <a:srgbClr val="28282F"/>
                </a:solidFill>
                <a:latin typeface="Inter" pitchFamily="34" charset="0"/>
                <a:ea typeface="Inter" pitchFamily="34" charset="-122"/>
                <a:cs typeface="Inter" pitchFamily="34" charset="-120"/>
              </a:rPr>
              <a:t>updated and contextually relevant information</a:t>
            </a:r>
            <a:r>
              <a:rPr lang="en-US" sz="1550" dirty="0">
                <a:solidFill>
                  <a:srgbClr val="161613"/>
                </a:solidFill>
                <a:latin typeface="Inter" pitchFamily="34" charset="0"/>
                <a:ea typeface="Inter" pitchFamily="34" charset="-122"/>
                <a:cs typeface="Inter" pitchFamily="34" charset="-120"/>
              </a:rPr>
              <a:t> from external knowledge bases in real-time.</a:t>
            </a:r>
            <a:endParaRPr lang="en-US" sz="1550" dirty="0"/>
          </a:p>
        </p:txBody>
      </p:sp>
      <p:sp>
        <p:nvSpPr>
          <p:cNvPr id="5" name="Text 2"/>
          <p:cNvSpPr/>
          <p:nvPr/>
        </p:nvSpPr>
        <p:spPr>
          <a:xfrm>
            <a:off x="10308074" y="2978468"/>
            <a:ext cx="3536156" cy="3810476"/>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This innovative approach addresses critical limitations of standalone LLMs, such as </a:t>
            </a:r>
            <a:r>
              <a:rPr lang="en-US" sz="1550" dirty="0">
                <a:solidFill>
                  <a:srgbClr val="28282F"/>
                </a:solidFill>
                <a:latin typeface="Inter" pitchFamily="34" charset="0"/>
                <a:ea typeface="Inter" pitchFamily="34" charset="-122"/>
                <a:cs typeface="Inter" pitchFamily="34" charset="-120"/>
              </a:rPr>
              <a:t>hallucinations</a:t>
            </a:r>
            <a:r>
              <a:rPr lang="en-US" sz="1550" dirty="0">
                <a:solidFill>
                  <a:srgbClr val="161613"/>
                </a:solidFill>
                <a:latin typeface="Inter" pitchFamily="34" charset="0"/>
                <a:ea typeface="Inter" pitchFamily="34" charset="-122"/>
                <a:cs typeface="Inter" pitchFamily="34" charset="-120"/>
              </a:rPr>
              <a:t> (generating plausible but incorrect information), </a:t>
            </a:r>
            <a:r>
              <a:rPr lang="en-US" sz="1550" dirty="0">
                <a:solidFill>
                  <a:srgbClr val="28282F"/>
                </a:solidFill>
                <a:latin typeface="Inter" pitchFamily="34" charset="0"/>
                <a:ea typeface="Inter" pitchFamily="34" charset="-122"/>
                <a:cs typeface="Inter" pitchFamily="34" charset="-120"/>
              </a:rPr>
              <a:t>outdated knowledge</a:t>
            </a:r>
            <a:r>
              <a:rPr lang="en-US" sz="1550" dirty="0">
                <a:solidFill>
                  <a:srgbClr val="161613"/>
                </a:solidFill>
                <a:latin typeface="Inter" pitchFamily="34" charset="0"/>
                <a:ea typeface="Inter" pitchFamily="34" charset="-122"/>
                <a:cs typeface="Inter" pitchFamily="34" charset="-120"/>
              </a:rPr>
              <a:t>, and a general lack of </a:t>
            </a:r>
            <a:r>
              <a:rPr lang="en-US" sz="1550" dirty="0">
                <a:solidFill>
                  <a:srgbClr val="28282F"/>
                </a:solidFill>
                <a:latin typeface="Inter" pitchFamily="34" charset="0"/>
                <a:ea typeface="Inter" pitchFamily="34" charset="-122"/>
                <a:cs typeface="Inter" pitchFamily="34" charset="-120"/>
              </a:rPr>
              <a:t>domain-specific accuracy</a:t>
            </a:r>
            <a:r>
              <a:rPr lang="en-US" sz="1550" dirty="0">
                <a:solidFill>
                  <a:srgbClr val="161613"/>
                </a:solidFill>
                <a:latin typeface="Inter" pitchFamily="34" charset="0"/>
                <a:ea typeface="Inter" pitchFamily="34" charset="-122"/>
                <a:cs typeface="Inter" pitchFamily="34" charset="-120"/>
              </a:rPr>
              <a:t>. RAG effectively acts as a sophisticated bridge between the vast, dynamic world of search engines and the creative, interpretive capabilities of language models.</a:t>
            </a:r>
            <a:endParaRPr lang="en-US" sz="1550" dirty="0"/>
          </a:p>
        </p:txBody>
      </p:sp>
      <p:sp>
        <p:nvSpPr>
          <p:cNvPr id="6" name="Rectangle 5">
            <a:extLst>
              <a:ext uri="{FF2B5EF4-FFF2-40B4-BE49-F238E27FC236}">
                <a16:creationId xmlns:a16="http://schemas.microsoft.com/office/drawing/2014/main" id="{9017675E-0822-42D9-6410-6AE1CD0090E0}"/>
              </a:ext>
            </a:extLst>
          </p:cNvPr>
          <p:cNvSpPr/>
          <p:nvPr/>
        </p:nvSpPr>
        <p:spPr>
          <a:xfrm>
            <a:off x="12879659" y="7805853"/>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02155"/>
            <a:ext cx="5937290"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The Critical Need for RAG</a:t>
            </a:r>
            <a:endParaRPr lang="en-US" sz="3900" dirty="0"/>
          </a:p>
        </p:txBody>
      </p:sp>
      <p:sp>
        <p:nvSpPr>
          <p:cNvPr id="3" name="Shape 1"/>
          <p:cNvSpPr/>
          <p:nvPr/>
        </p:nvSpPr>
        <p:spPr>
          <a:xfrm>
            <a:off x="793790" y="3019068"/>
            <a:ext cx="6422231" cy="2350056"/>
          </a:xfrm>
          <a:prstGeom prst="roundRect">
            <a:avLst>
              <a:gd name="adj" fmla="val 1267"/>
            </a:avLst>
          </a:prstGeom>
          <a:solidFill>
            <a:srgbClr val="F9F8F5"/>
          </a:solidFill>
          <a:ln w="22860">
            <a:solidFill>
              <a:srgbClr val="D3D1C9"/>
            </a:solidFill>
            <a:prstDash val="solid"/>
          </a:ln>
        </p:spPr>
      </p:sp>
      <p:sp>
        <p:nvSpPr>
          <p:cNvPr id="4" name="Shape 2"/>
          <p:cNvSpPr/>
          <p:nvPr/>
        </p:nvSpPr>
        <p:spPr>
          <a:xfrm>
            <a:off x="793790" y="3019068"/>
            <a:ext cx="91440" cy="2350056"/>
          </a:xfrm>
          <a:prstGeom prst="roundRect">
            <a:avLst>
              <a:gd name="adj" fmla="val 32558"/>
            </a:avLst>
          </a:prstGeom>
          <a:solidFill>
            <a:srgbClr val="28282F"/>
          </a:solidFill>
          <a:ln/>
        </p:spPr>
      </p:sp>
      <p:sp>
        <p:nvSpPr>
          <p:cNvPr id="5" name="Text 3"/>
          <p:cNvSpPr/>
          <p:nvPr/>
        </p:nvSpPr>
        <p:spPr>
          <a:xfrm>
            <a:off x="1106448" y="3240286"/>
            <a:ext cx="3117056"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Traditional LLM Challenges</a:t>
            </a:r>
            <a:endParaRPr lang="en-US" sz="1950" dirty="0"/>
          </a:p>
        </p:txBody>
      </p:sp>
      <p:sp>
        <p:nvSpPr>
          <p:cNvPr id="6" name="Text 4"/>
          <p:cNvSpPr/>
          <p:nvPr/>
        </p:nvSpPr>
        <p:spPr>
          <a:xfrm>
            <a:off x="1106448" y="3669506"/>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Static knowledge, quickly outdated.</a:t>
            </a:r>
            <a:endParaRPr lang="en-US" sz="1550" dirty="0"/>
          </a:p>
        </p:txBody>
      </p:sp>
      <p:sp>
        <p:nvSpPr>
          <p:cNvPr id="7" name="Text 5"/>
          <p:cNvSpPr/>
          <p:nvPr/>
        </p:nvSpPr>
        <p:spPr>
          <a:xfrm>
            <a:off x="1106448" y="4056459"/>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High cost and complexity of retraining.</a:t>
            </a:r>
            <a:endParaRPr lang="en-US" sz="1550" dirty="0"/>
          </a:p>
        </p:txBody>
      </p:sp>
      <p:sp>
        <p:nvSpPr>
          <p:cNvPr id="8" name="Text 6"/>
          <p:cNvSpPr/>
          <p:nvPr/>
        </p:nvSpPr>
        <p:spPr>
          <a:xfrm>
            <a:off x="1106448" y="4443413"/>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Prone to generating fabricated information (hallucinations).</a:t>
            </a:r>
            <a:endParaRPr lang="en-US" sz="1550" dirty="0"/>
          </a:p>
        </p:txBody>
      </p:sp>
      <p:sp>
        <p:nvSpPr>
          <p:cNvPr id="9" name="Text 7"/>
          <p:cNvSpPr/>
          <p:nvPr/>
        </p:nvSpPr>
        <p:spPr>
          <a:xfrm>
            <a:off x="1106448" y="4830366"/>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Difficulty with domain-specific accuracy.</a:t>
            </a:r>
            <a:endParaRPr lang="en-US" sz="1550" dirty="0"/>
          </a:p>
        </p:txBody>
      </p:sp>
      <p:sp>
        <p:nvSpPr>
          <p:cNvPr id="10" name="Shape 8"/>
          <p:cNvSpPr/>
          <p:nvPr/>
        </p:nvSpPr>
        <p:spPr>
          <a:xfrm>
            <a:off x="7414379" y="3019068"/>
            <a:ext cx="6422231" cy="2350056"/>
          </a:xfrm>
          <a:prstGeom prst="roundRect">
            <a:avLst>
              <a:gd name="adj" fmla="val 1267"/>
            </a:avLst>
          </a:prstGeom>
          <a:solidFill>
            <a:srgbClr val="F9F8F5"/>
          </a:solidFill>
          <a:ln w="22860">
            <a:solidFill>
              <a:srgbClr val="D3D1C9"/>
            </a:solidFill>
            <a:prstDash val="solid"/>
          </a:ln>
        </p:spPr>
      </p:sp>
      <p:sp>
        <p:nvSpPr>
          <p:cNvPr id="11" name="Shape 9"/>
          <p:cNvSpPr/>
          <p:nvPr/>
        </p:nvSpPr>
        <p:spPr>
          <a:xfrm>
            <a:off x="7414379" y="3019068"/>
            <a:ext cx="91440" cy="2350056"/>
          </a:xfrm>
          <a:prstGeom prst="roundRect">
            <a:avLst>
              <a:gd name="adj" fmla="val 32558"/>
            </a:avLst>
          </a:prstGeom>
          <a:solidFill>
            <a:srgbClr val="28282F"/>
          </a:solidFill>
          <a:ln/>
        </p:spPr>
      </p:sp>
      <p:sp>
        <p:nvSpPr>
          <p:cNvPr id="12" name="Text 10"/>
          <p:cNvSpPr/>
          <p:nvPr/>
        </p:nvSpPr>
        <p:spPr>
          <a:xfrm>
            <a:off x="7727037" y="324028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Why RAG is Essential</a:t>
            </a:r>
            <a:endParaRPr lang="en-US" sz="1950" dirty="0"/>
          </a:p>
        </p:txBody>
      </p:sp>
      <p:sp>
        <p:nvSpPr>
          <p:cNvPr id="13" name="Text 11"/>
          <p:cNvSpPr/>
          <p:nvPr/>
        </p:nvSpPr>
        <p:spPr>
          <a:xfrm>
            <a:off x="7727037" y="3669506"/>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Provides </a:t>
            </a:r>
            <a:r>
              <a:rPr lang="en-US" sz="1550" dirty="0">
                <a:solidFill>
                  <a:srgbClr val="28282F"/>
                </a:solidFill>
                <a:latin typeface="Inter" pitchFamily="34" charset="0"/>
                <a:ea typeface="Inter" pitchFamily="34" charset="-122"/>
                <a:cs typeface="Inter" pitchFamily="34" charset="-120"/>
              </a:rPr>
              <a:t>real-time knowledge access</a:t>
            </a:r>
            <a:r>
              <a:rPr lang="en-US" sz="1550" dirty="0">
                <a:solidFill>
                  <a:srgbClr val="161613"/>
                </a:solidFill>
                <a:latin typeface="Inter" pitchFamily="34" charset="0"/>
                <a:ea typeface="Inter" pitchFamily="34" charset="-122"/>
                <a:cs typeface="Inter" pitchFamily="34" charset="-120"/>
              </a:rPr>
              <a:t>.</a:t>
            </a:r>
            <a:endParaRPr lang="en-US" sz="1550" dirty="0"/>
          </a:p>
        </p:txBody>
      </p:sp>
      <p:sp>
        <p:nvSpPr>
          <p:cNvPr id="14" name="Text 12"/>
          <p:cNvSpPr/>
          <p:nvPr/>
        </p:nvSpPr>
        <p:spPr>
          <a:xfrm>
            <a:off x="7727037" y="4056459"/>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Significantly improves </a:t>
            </a:r>
            <a:r>
              <a:rPr lang="en-US" sz="1550" dirty="0">
                <a:solidFill>
                  <a:srgbClr val="28282F"/>
                </a:solidFill>
                <a:latin typeface="Inter" pitchFamily="34" charset="0"/>
                <a:ea typeface="Inter" pitchFamily="34" charset="-122"/>
                <a:cs typeface="Inter" pitchFamily="34" charset="-120"/>
              </a:rPr>
              <a:t>factual accuracy</a:t>
            </a:r>
            <a:r>
              <a:rPr lang="en-US" sz="1550" dirty="0">
                <a:solidFill>
                  <a:srgbClr val="161613"/>
                </a:solidFill>
                <a:latin typeface="Inter" pitchFamily="34" charset="0"/>
                <a:ea typeface="Inter" pitchFamily="34" charset="-122"/>
                <a:cs typeface="Inter" pitchFamily="34" charset="-120"/>
              </a:rPr>
              <a:t>.</a:t>
            </a:r>
            <a:endParaRPr lang="en-US" sz="1550" dirty="0"/>
          </a:p>
        </p:txBody>
      </p:sp>
      <p:sp>
        <p:nvSpPr>
          <p:cNvPr id="15" name="Text 13"/>
          <p:cNvSpPr/>
          <p:nvPr/>
        </p:nvSpPr>
        <p:spPr>
          <a:xfrm>
            <a:off x="7727037" y="4443413"/>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Enables </a:t>
            </a:r>
            <a:r>
              <a:rPr lang="en-US" sz="1550" dirty="0">
                <a:solidFill>
                  <a:srgbClr val="28282F"/>
                </a:solidFill>
                <a:latin typeface="Inter" pitchFamily="34" charset="0"/>
                <a:ea typeface="Inter" pitchFamily="34" charset="-122"/>
                <a:cs typeface="Inter" pitchFamily="34" charset="-120"/>
              </a:rPr>
              <a:t>customization</a:t>
            </a:r>
            <a:r>
              <a:rPr lang="en-US" sz="1550" dirty="0">
                <a:solidFill>
                  <a:srgbClr val="161613"/>
                </a:solidFill>
                <a:latin typeface="Inter" pitchFamily="34" charset="0"/>
                <a:ea typeface="Inter" pitchFamily="34" charset="-122"/>
                <a:cs typeface="Inter" pitchFamily="34" charset="-120"/>
              </a:rPr>
              <a:t> with proprietary data.</a:t>
            </a:r>
            <a:endParaRPr lang="en-US" sz="1550" dirty="0"/>
          </a:p>
        </p:txBody>
      </p:sp>
      <p:sp>
        <p:nvSpPr>
          <p:cNvPr id="16" name="Text 14"/>
          <p:cNvSpPr/>
          <p:nvPr/>
        </p:nvSpPr>
        <p:spPr>
          <a:xfrm>
            <a:off x="7727037" y="4830366"/>
            <a:ext cx="588835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61613"/>
                </a:solidFill>
                <a:latin typeface="Inter" pitchFamily="34" charset="0"/>
                <a:ea typeface="Inter" pitchFamily="34" charset="-122"/>
                <a:cs typeface="Inter" pitchFamily="34" charset="-120"/>
              </a:rPr>
              <a:t>Reduces reliance on expensive, frequent fine-tuning.</a:t>
            </a:r>
            <a:endParaRPr lang="en-US" sz="1550" dirty="0"/>
          </a:p>
        </p:txBody>
      </p:sp>
      <p:sp>
        <p:nvSpPr>
          <p:cNvPr id="17" name="Text 15"/>
          <p:cNvSpPr/>
          <p:nvPr/>
        </p:nvSpPr>
        <p:spPr>
          <a:xfrm>
            <a:off x="793790" y="55923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RAG emerges as a vital solution, ensuring that AI-generated responses are not only coherent but also factually robust and current, making them invaluable for enterprise-level applications where accuracy is paramount.</a:t>
            </a:r>
            <a:endParaRPr lang="en-US" sz="1550" dirty="0"/>
          </a:p>
        </p:txBody>
      </p:sp>
      <p:sp>
        <p:nvSpPr>
          <p:cNvPr id="18" name="Rectangle 17">
            <a:extLst>
              <a:ext uri="{FF2B5EF4-FFF2-40B4-BE49-F238E27FC236}">
                <a16:creationId xmlns:a16="http://schemas.microsoft.com/office/drawing/2014/main" id="{08424487-2AA5-712F-6407-55A39760AD6F}"/>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39253"/>
            <a:ext cx="6912173"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The Core Architecture of RAG</a:t>
            </a:r>
            <a:endParaRPr lang="en-US" sz="3900" dirty="0"/>
          </a:p>
        </p:txBody>
      </p:sp>
      <p:sp>
        <p:nvSpPr>
          <p:cNvPr id="3" name="Text 1"/>
          <p:cNvSpPr/>
          <p:nvPr/>
        </p:nvSpPr>
        <p:spPr>
          <a:xfrm>
            <a:off x="793790" y="265616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RAG’s strength lies in its modular yet integrated design, fundamentally comprising two primary components: the Retriever and the Generator. This dual-system approach allows for context-rich and accurate responses.</a:t>
            </a:r>
            <a:endParaRPr lang="en-US" sz="1550" dirty="0"/>
          </a:p>
        </p:txBody>
      </p:sp>
      <p:sp>
        <p:nvSpPr>
          <p:cNvPr id="4" name="Text 2"/>
          <p:cNvSpPr/>
          <p:nvPr/>
        </p:nvSpPr>
        <p:spPr>
          <a:xfrm>
            <a:off x="793790" y="371284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161613"/>
                </a:solidFill>
                <a:latin typeface="DM Sans Medium" pitchFamily="34" charset="0"/>
                <a:ea typeface="DM Sans Medium" pitchFamily="34" charset="-122"/>
                <a:cs typeface="DM Sans Medium" pitchFamily="34" charset="-120"/>
              </a:rPr>
              <a:t>The Retriever Module</a:t>
            </a:r>
            <a:endParaRPr lang="en-US" sz="2300" dirty="0"/>
          </a:p>
        </p:txBody>
      </p:sp>
      <p:sp>
        <p:nvSpPr>
          <p:cNvPr id="5" name="Text 3"/>
          <p:cNvSpPr/>
          <p:nvPr/>
        </p:nvSpPr>
        <p:spPr>
          <a:xfrm>
            <a:off x="793790" y="4283273"/>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This component is responsible for intelligently searching and fetching the most relevant knowledge chunks or documents from a vast external knowledge base. This knowledge base can be anything from internal enterprise documents to publicly available web data, structured databases, or even specialized APIs.</a:t>
            </a:r>
            <a:endParaRPr lang="en-US" sz="1550" dirty="0"/>
          </a:p>
        </p:txBody>
      </p:sp>
      <p:sp>
        <p:nvSpPr>
          <p:cNvPr id="6" name="Text 4"/>
          <p:cNvSpPr/>
          <p:nvPr/>
        </p:nvSpPr>
        <p:spPr>
          <a:xfrm>
            <a:off x="7564874" y="3712845"/>
            <a:ext cx="3139916" cy="372070"/>
          </a:xfrm>
          <a:prstGeom prst="rect">
            <a:avLst/>
          </a:prstGeom>
          <a:noFill/>
          <a:ln/>
        </p:spPr>
        <p:txBody>
          <a:bodyPr wrap="none" lIns="0" tIns="0" rIns="0" bIns="0" rtlCol="0" anchor="t"/>
          <a:lstStyle/>
          <a:p>
            <a:pPr marL="0" indent="0" algn="l">
              <a:lnSpc>
                <a:spcPts val="2900"/>
              </a:lnSpc>
              <a:buNone/>
            </a:pPr>
            <a:r>
              <a:rPr lang="en-US" sz="2300" dirty="0">
                <a:solidFill>
                  <a:srgbClr val="161613"/>
                </a:solidFill>
                <a:latin typeface="DM Sans Medium" pitchFamily="34" charset="0"/>
                <a:ea typeface="DM Sans Medium" pitchFamily="34" charset="-122"/>
                <a:cs typeface="DM Sans Medium" pitchFamily="34" charset="-120"/>
              </a:rPr>
              <a:t>The Generator Module</a:t>
            </a:r>
            <a:endParaRPr lang="en-US" sz="2300" dirty="0"/>
          </a:p>
        </p:txBody>
      </p:sp>
      <p:sp>
        <p:nvSpPr>
          <p:cNvPr id="7" name="Text 5"/>
          <p:cNvSpPr/>
          <p:nvPr/>
        </p:nvSpPr>
        <p:spPr>
          <a:xfrm>
            <a:off x="7564874" y="4283273"/>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Typically a Large Language Model (LLM), the Generator takes the user's original query and the contextually relevant information provided by the Retriever. It then synthesizes this combined input to formulate a coherent, context-aware, and factually grounded response.</a:t>
            </a:r>
            <a:endParaRPr lang="en-US" sz="1550" dirty="0"/>
          </a:p>
        </p:txBody>
      </p:sp>
      <p:sp>
        <p:nvSpPr>
          <p:cNvPr id="8" name="Text 6"/>
          <p:cNvSpPr/>
          <p:nvPr/>
        </p:nvSpPr>
        <p:spPr>
          <a:xfrm>
            <a:off x="793790" y="6272808"/>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This end-to-end pipeline ensures that the generated output is not only fluent but also highly informed by external, verifiable data sources.</a:t>
            </a:r>
            <a:endParaRPr lang="en-US" sz="1550" dirty="0"/>
          </a:p>
        </p:txBody>
      </p:sp>
      <p:sp>
        <p:nvSpPr>
          <p:cNvPr id="9" name="Rectangle 8">
            <a:extLst>
              <a:ext uri="{FF2B5EF4-FFF2-40B4-BE49-F238E27FC236}">
                <a16:creationId xmlns:a16="http://schemas.microsoft.com/office/drawing/2014/main" id="{36CDFA74-BBC5-8916-6D85-BFD621B3B29A}"/>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88112"/>
            <a:ext cx="9489638"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RAG in Action: A Step-by-Step Workflow</a:t>
            </a:r>
            <a:endParaRPr lang="en-US" sz="3900" dirty="0"/>
          </a:p>
        </p:txBody>
      </p:sp>
      <p:sp>
        <p:nvSpPr>
          <p:cNvPr id="3" name="Text 1"/>
          <p:cNvSpPr/>
          <p:nvPr/>
        </p:nvSpPr>
        <p:spPr>
          <a:xfrm>
            <a:off x="793790" y="210502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Understanding the sequence of operations within RAG clarifies how it delivers superior responses. Each step is crucial for ensuring accuracy and relevance.</a:t>
            </a:r>
            <a:endParaRPr lang="en-US" sz="1550" dirty="0"/>
          </a:p>
        </p:txBody>
      </p:sp>
      <p:sp>
        <p:nvSpPr>
          <p:cNvPr id="4" name="Text 2"/>
          <p:cNvSpPr/>
          <p:nvPr/>
        </p:nvSpPr>
        <p:spPr>
          <a:xfrm>
            <a:off x="793790" y="296334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DM Sans Light" pitchFamily="34" charset="0"/>
                <a:ea typeface="DM Sans Light" pitchFamily="34" charset="-122"/>
                <a:cs typeface="DM Sans Light" pitchFamily="34" charset="-120"/>
              </a:rPr>
              <a:t>01</a:t>
            </a:r>
            <a:endParaRPr lang="en-US" sz="1550" dirty="0"/>
          </a:p>
        </p:txBody>
      </p:sp>
      <p:sp>
        <p:nvSpPr>
          <p:cNvPr id="5" name="Shape 3"/>
          <p:cNvSpPr/>
          <p:nvPr/>
        </p:nvSpPr>
        <p:spPr>
          <a:xfrm>
            <a:off x="793790" y="3277672"/>
            <a:ext cx="4215289" cy="22860"/>
          </a:xfrm>
          <a:prstGeom prst="rect">
            <a:avLst/>
          </a:prstGeom>
          <a:solidFill>
            <a:srgbClr val="28282F"/>
          </a:solidFill>
          <a:ln/>
        </p:spPr>
      </p:sp>
      <p:sp>
        <p:nvSpPr>
          <p:cNvPr id="6" name="Text 4"/>
          <p:cNvSpPr/>
          <p:nvPr/>
        </p:nvSpPr>
        <p:spPr>
          <a:xfrm>
            <a:off x="793790" y="342257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User Query Input</a:t>
            </a:r>
            <a:endParaRPr lang="en-US" sz="1950" dirty="0"/>
          </a:p>
        </p:txBody>
      </p:sp>
      <p:sp>
        <p:nvSpPr>
          <p:cNvPr id="7" name="Text 5"/>
          <p:cNvSpPr/>
          <p:nvPr/>
        </p:nvSpPr>
        <p:spPr>
          <a:xfrm>
            <a:off x="793790" y="3851791"/>
            <a:ext cx="4215289"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process begins when a user submits a query or prompt to the RAG system.</a:t>
            </a:r>
            <a:endParaRPr lang="en-US" sz="1550" dirty="0"/>
          </a:p>
        </p:txBody>
      </p:sp>
      <p:sp>
        <p:nvSpPr>
          <p:cNvPr id="8" name="Text 6"/>
          <p:cNvSpPr/>
          <p:nvPr/>
        </p:nvSpPr>
        <p:spPr>
          <a:xfrm>
            <a:off x="5207437" y="296334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DM Sans Light" pitchFamily="34" charset="0"/>
                <a:ea typeface="DM Sans Light" pitchFamily="34" charset="-122"/>
                <a:cs typeface="DM Sans Light" pitchFamily="34" charset="-120"/>
              </a:rPr>
              <a:t>02</a:t>
            </a:r>
            <a:endParaRPr lang="en-US" sz="1550" dirty="0"/>
          </a:p>
        </p:txBody>
      </p:sp>
      <p:sp>
        <p:nvSpPr>
          <p:cNvPr id="9" name="Shape 7"/>
          <p:cNvSpPr/>
          <p:nvPr/>
        </p:nvSpPr>
        <p:spPr>
          <a:xfrm>
            <a:off x="5207437" y="3277672"/>
            <a:ext cx="4215408" cy="22860"/>
          </a:xfrm>
          <a:prstGeom prst="rect">
            <a:avLst/>
          </a:prstGeom>
          <a:solidFill>
            <a:srgbClr val="28282F"/>
          </a:solidFill>
          <a:ln/>
        </p:spPr>
      </p:sp>
      <p:sp>
        <p:nvSpPr>
          <p:cNvPr id="10" name="Text 8"/>
          <p:cNvSpPr/>
          <p:nvPr/>
        </p:nvSpPr>
        <p:spPr>
          <a:xfrm>
            <a:off x="5207437" y="3422571"/>
            <a:ext cx="4148733"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Retriever Searches Knowledge Base</a:t>
            </a:r>
            <a:endParaRPr lang="en-US" sz="1950" dirty="0"/>
          </a:p>
        </p:txBody>
      </p:sp>
      <p:sp>
        <p:nvSpPr>
          <p:cNvPr id="11" name="Text 9"/>
          <p:cNvSpPr/>
          <p:nvPr/>
        </p:nvSpPr>
        <p:spPr>
          <a:xfrm>
            <a:off x="5207437" y="3851791"/>
            <a:ext cx="4215408"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Retriever module processes the query and searches a vast vector database to identify and extract the </a:t>
            </a:r>
            <a:r>
              <a:rPr lang="en-US" sz="1550" dirty="0">
                <a:solidFill>
                  <a:srgbClr val="28282F"/>
                </a:solidFill>
                <a:latin typeface="Inter" pitchFamily="34" charset="0"/>
                <a:ea typeface="Inter" pitchFamily="34" charset="-122"/>
                <a:cs typeface="Inter" pitchFamily="34" charset="-120"/>
              </a:rPr>
              <a:t>top-k most relevant documents or knowledge chunks</a:t>
            </a:r>
            <a:r>
              <a:rPr lang="en-US" sz="1550" dirty="0">
                <a:solidFill>
                  <a:srgbClr val="161613"/>
                </a:solidFill>
                <a:latin typeface="Inter" pitchFamily="34" charset="0"/>
                <a:ea typeface="Inter" pitchFamily="34" charset="-122"/>
                <a:cs typeface="Inter" pitchFamily="34" charset="-120"/>
              </a:rPr>
              <a:t>.</a:t>
            </a:r>
            <a:endParaRPr lang="en-US" sz="1550" dirty="0"/>
          </a:p>
        </p:txBody>
      </p:sp>
      <p:sp>
        <p:nvSpPr>
          <p:cNvPr id="12" name="Text 10"/>
          <p:cNvSpPr/>
          <p:nvPr/>
        </p:nvSpPr>
        <p:spPr>
          <a:xfrm>
            <a:off x="9621203" y="296334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DM Sans Light" pitchFamily="34" charset="0"/>
                <a:ea typeface="DM Sans Light" pitchFamily="34" charset="-122"/>
                <a:cs typeface="DM Sans Light" pitchFamily="34" charset="-120"/>
              </a:rPr>
              <a:t>03</a:t>
            </a:r>
            <a:endParaRPr lang="en-US" sz="1550" dirty="0"/>
          </a:p>
        </p:txBody>
      </p:sp>
      <p:sp>
        <p:nvSpPr>
          <p:cNvPr id="13" name="Shape 11"/>
          <p:cNvSpPr/>
          <p:nvPr/>
        </p:nvSpPr>
        <p:spPr>
          <a:xfrm>
            <a:off x="9621203" y="3277672"/>
            <a:ext cx="4215289" cy="22860"/>
          </a:xfrm>
          <a:prstGeom prst="rect">
            <a:avLst/>
          </a:prstGeom>
          <a:solidFill>
            <a:srgbClr val="28282F"/>
          </a:solidFill>
          <a:ln/>
        </p:spPr>
      </p:sp>
      <p:sp>
        <p:nvSpPr>
          <p:cNvPr id="14" name="Text 12"/>
          <p:cNvSpPr/>
          <p:nvPr/>
        </p:nvSpPr>
        <p:spPr>
          <a:xfrm>
            <a:off x="9621203" y="3422571"/>
            <a:ext cx="4066103"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Generator Synthesizes Information</a:t>
            </a:r>
            <a:endParaRPr lang="en-US" sz="1950" dirty="0"/>
          </a:p>
        </p:txBody>
      </p:sp>
      <p:sp>
        <p:nvSpPr>
          <p:cNvPr id="15" name="Text 13"/>
          <p:cNvSpPr/>
          <p:nvPr/>
        </p:nvSpPr>
        <p:spPr>
          <a:xfrm>
            <a:off x="9621203" y="3851791"/>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Generator (LLM) receives both the original user query and the retrieved relevant documents. It uses this combined context to formulate its response.</a:t>
            </a:r>
            <a:endParaRPr lang="en-US" sz="1550" dirty="0"/>
          </a:p>
        </p:txBody>
      </p:sp>
      <p:sp>
        <p:nvSpPr>
          <p:cNvPr id="16" name="Text 14"/>
          <p:cNvSpPr/>
          <p:nvPr/>
        </p:nvSpPr>
        <p:spPr>
          <a:xfrm>
            <a:off x="793790" y="546913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DM Sans Light" pitchFamily="34" charset="0"/>
                <a:ea typeface="DM Sans Light" pitchFamily="34" charset="-122"/>
                <a:cs typeface="DM Sans Light" pitchFamily="34" charset="-120"/>
              </a:rPr>
              <a:t>04</a:t>
            </a:r>
            <a:endParaRPr lang="en-US" sz="1550" dirty="0"/>
          </a:p>
        </p:txBody>
      </p:sp>
      <p:sp>
        <p:nvSpPr>
          <p:cNvPr id="17" name="Shape 15"/>
          <p:cNvSpPr/>
          <p:nvPr/>
        </p:nvSpPr>
        <p:spPr>
          <a:xfrm>
            <a:off x="793790" y="5783461"/>
            <a:ext cx="6422112" cy="22860"/>
          </a:xfrm>
          <a:prstGeom prst="rect">
            <a:avLst/>
          </a:prstGeom>
          <a:solidFill>
            <a:srgbClr val="28282F"/>
          </a:solidFill>
          <a:ln/>
        </p:spPr>
      </p:sp>
      <p:sp>
        <p:nvSpPr>
          <p:cNvPr id="18" name="Text 16"/>
          <p:cNvSpPr/>
          <p:nvPr/>
        </p:nvSpPr>
        <p:spPr>
          <a:xfrm>
            <a:off x="793790" y="592836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Response Creation</a:t>
            </a:r>
            <a:endParaRPr lang="en-US" sz="1950" dirty="0"/>
          </a:p>
        </p:txBody>
      </p:sp>
      <p:sp>
        <p:nvSpPr>
          <p:cNvPr id="19" name="Text 17"/>
          <p:cNvSpPr/>
          <p:nvPr/>
        </p:nvSpPr>
        <p:spPr>
          <a:xfrm>
            <a:off x="793790" y="6357580"/>
            <a:ext cx="6422112"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LLM generates a coherent, factually checked, and contextually appropriate answer, significantly reducing the risk of hallucinations.</a:t>
            </a:r>
            <a:endParaRPr lang="en-US" sz="1550" dirty="0"/>
          </a:p>
        </p:txBody>
      </p:sp>
      <p:sp>
        <p:nvSpPr>
          <p:cNvPr id="20" name="Text 18"/>
          <p:cNvSpPr/>
          <p:nvPr/>
        </p:nvSpPr>
        <p:spPr>
          <a:xfrm>
            <a:off x="7414260" y="546913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DM Sans Light" pitchFamily="34" charset="0"/>
                <a:ea typeface="DM Sans Light" pitchFamily="34" charset="-122"/>
                <a:cs typeface="DM Sans Light" pitchFamily="34" charset="-120"/>
              </a:rPr>
              <a:t>05</a:t>
            </a:r>
            <a:endParaRPr lang="en-US" sz="1550" dirty="0"/>
          </a:p>
        </p:txBody>
      </p:sp>
      <p:sp>
        <p:nvSpPr>
          <p:cNvPr id="21" name="Shape 19"/>
          <p:cNvSpPr/>
          <p:nvPr/>
        </p:nvSpPr>
        <p:spPr>
          <a:xfrm>
            <a:off x="7414260" y="5783461"/>
            <a:ext cx="6422231" cy="22860"/>
          </a:xfrm>
          <a:prstGeom prst="rect">
            <a:avLst/>
          </a:prstGeom>
          <a:solidFill>
            <a:srgbClr val="28282F"/>
          </a:solidFill>
          <a:ln/>
        </p:spPr>
      </p:sp>
      <p:sp>
        <p:nvSpPr>
          <p:cNvPr id="22" name="Text 20"/>
          <p:cNvSpPr/>
          <p:nvPr/>
        </p:nvSpPr>
        <p:spPr>
          <a:xfrm>
            <a:off x="7414260" y="592836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Output Delivery</a:t>
            </a:r>
            <a:endParaRPr lang="en-US" sz="1950" dirty="0"/>
          </a:p>
        </p:txBody>
      </p:sp>
      <p:sp>
        <p:nvSpPr>
          <p:cNvPr id="23" name="Text 21"/>
          <p:cNvSpPr/>
          <p:nvPr/>
        </p:nvSpPr>
        <p:spPr>
          <a:xfrm>
            <a:off x="7414260" y="6357580"/>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final, enhanced response is then delivered back to the user.</a:t>
            </a:r>
            <a:endParaRPr lang="en-US" sz="1550" dirty="0"/>
          </a:p>
        </p:txBody>
      </p:sp>
      <p:sp>
        <p:nvSpPr>
          <p:cNvPr id="24" name="Rectangle 23">
            <a:extLst>
              <a:ext uri="{FF2B5EF4-FFF2-40B4-BE49-F238E27FC236}">
                <a16:creationId xmlns:a16="http://schemas.microsoft.com/office/drawing/2014/main" id="{5541D105-603C-8538-359D-F4464D8089F0}"/>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748314"/>
            <a:ext cx="7181612"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Key Components Defining RAG</a:t>
            </a:r>
            <a:endParaRPr lang="en-US" sz="3900" dirty="0"/>
          </a:p>
        </p:txBody>
      </p:sp>
      <p:sp>
        <p:nvSpPr>
          <p:cNvPr id="3" name="Text 1"/>
          <p:cNvSpPr/>
          <p:nvPr/>
        </p:nvSpPr>
        <p:spPr>
          <a:xfrm>
            <a:off x="793790" y="276522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effectiveness of a RAG system hinges on the robust integration and performance of its core constituent parts.</a:t>
            </a:r>
            <a:endParaRPr lang="en-US" sz="1550" dirty="0"/>
          </a:p>
        </p:txBody>
      </p:sp>
      <p:sp>
        <p:nvSpPr>
          <p:cNvPr id="4" name="Text 2"/>
          <p:cNvSpPr/>
          <p:nvPr/>
        </p:nvSpPr>
        <p:spPr>
          <a:xfrm>
            <a:off x="793790" y="3484602"/>
            <a:ext cx="6279356" cy="127015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Retriever:</a:t>
            </a:r>
            <a:r>
              <a:rPr lang="en-US" sz="1550" dirty="0">
                <a:solidFill>
                  <a:srgbClr val="161613"/>
                </a:solidFill>
                <a:latin typeface="Inter" pitchFamily="34" charset="0"/>
                <a:ea typeface="Inter" pitchFamily="34" charset="-122"/>
                <a:cs typeface="Inter" pitchFamily="34" charset="-120"/>
              </a:rPr>
              <a:t> Utilizes advanced techniques like embedding vectors and similarity search, primarily leveraging vector databases (e.g., FAISS, Milvus, Pinecone) to efficiently find relevant information from the knowledge base.</a:t>
            </a:r>
            <a:endParaRPr lang="en-US" sz="1550" dirty="0"/>
          </a:p>
        </p:txBody>
      </p:sp>
      <p:sp>
        <p:nvSpPr>
          <p:cNvPr id="5" name="Text 3"/>
          <p:cNvSpPr/>
          <p:nvPr/>
        </p:nvSpPr>
        <p:spPr>
          <a:xfrm>
            <a:off x="793790" y="4824174"/>
            <a:ext cx="6279356" cy="158769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Knowledge Base:</a:t>
            </a:r>
            <a:r>
              <a:rPr lang="en-US" sz="1550" dirty="0">
                <a:solidFill>
                  <a:srgbClr val="161613"/>
                </a:solidFill>
                <a:latin typeface="Inter" pitchFamily="34" charset="0"/>
                <a:ea typeface="Inter" pitchFamily="34" charset="-122"/>
                <a:cs typeface="Inter" pitchFamily="34" charset="-120"/>
              </a:rPr>
              <a:t> A critical repository containing all the external information RAG can draw upon. This can be diverse, encompassing structured data, unstructured text (PDFs, research papers), websites, customer records, or any other relevant enterprise data sources.</a:t>
            </a:r>
            <a:endParaRPr lang="en-US" sz="1550" dirty="0"/>
          </a:p>
        </p:txBody>
      </p:sp>
      <p:sp>
        <p:nvSpPr>
          <p:cNvPr id="6" name="Text 4"/>
          <p:cNvSpPr/>
          <p:nvPr/>
        </p:nvSpPr>
        <p:spPr>
          <a:xfrm>
            <a:off x="7564874" y="3484602"/>
            <a:ext cx="6279356" cy="127015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Generator:</a:t>
            </a:r>
            <a:r>
              <a:rPr lang="en-US" sz="1550" dirty="0">
                <a:solidFill>
                  <a:srgbClr val="161613"/>
                </a:solidFill>
                <a:latin typeface="Inter" pitchFamily="34" charset="0"/>
                <a:ea typeface="Inter" pitchFamily="34" charset="-122"/>
                <a:cs typeface="Inter" pitchFamily="34" charset="-120"/>
              </a:rPr>
              <a:t> A pre-trained Large Language Model (LLM), such as variants of GPT, BERT, or T5. Its role is to process the retrieved context alongside the user's query and generate a human-like, coherent, and informed response.</a:t>
            </a:r>
            <a:endParaRPr lang="en-US" sz="1550" dirty="0"/>
          </a:p>
        </p:txBody>
      </p:sp>
      <p:sp>
        <p:nvSpPr>
          <p:cNvPr id="7" name="Text 5"/>
          <p:cNvSpPr/>
          <p:nvPr/>
        </p:nvSpPr>
        <p:spPr>
          <a:xfrm>
            <a:off x="7564874" y="4824174"/>
            <a:ext cx="6279356" cy="127015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End-to-End Pipeline:</a:t>
            </a:r>
            <a:r>
              <a:rPr lang="en-US" sz="1550" dirty="0">
                <a:solidFill>
                  <a:srgbClr val="161613"/>
                </a:solidFill>
                <a:latin typeface="Inter" pitchFamily="34" charset="0"/>
                <a:ea typeface="Inter" pitchFamily="34" charset="-122"/>
                <a:cs typeface="Inter" pitchFamily="34" charset="-120"/>
              </a:rPr>
              <a:t> The seamless integration of these components, orchestrating the flow from query to retrieval, context injection, and final response generation, ensuring a cohesive and high-quality output.</a:t>
            </a:r>
            <a:endParaRPr lang="en-US" sz="1550" dirty="0"/>
          </a:p>
        </p:txBody>
      </p:sp>
      <p:sp>
        <p:nvSpPr>
          <p:cNvPr id="8" name="Rectangle 7">
            <a:extLst>
              <a:ext uri="{FF2B5EF4-FFF2-40B4-BE49-F238E27FC236}">
                <a16:creationId xmlns:a16="http://schemas.microsoft.com/office/drawing/2014/main" id="{62E644BE-7E40-20ED-B7F0-05D7B8C55E4B}"/>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65716"/>
            <a:ext cx="7547253"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Deep Dive: The Retriever Module</a:t>
            </a:r>
            <a:endParaRPr lang="en-US" sz="3900" dirty="0"/>
          </a:p>
        </p:txBody>
      </p:sp>
      <p:sp>
        <p:nvSpPr>
          <p:cNvPr id="3" name="Text 1"/>
          <p:cNvSpPr/>
          <p:nvPr/>
        </p:nvSpPr>
        <p:spPr>
          <a:xfrm>
            <a:off x="793790" y="198262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Retriever is the "search engine" within RAG, crucial for ensuring the quality and relevance of the information fed to the Generator. Its efficiency directly impacts the factual accuracy of the output.</a:t>
            </a:r>
            <a:endParaRPr lang="en-US" sz="1550" dirty="0"/>
          </a:p>
        </p:txBody>
      </p:sp>
      <p:sp>
        <p:nvSpPr>
          <p:cNvPr id="4" name="Shape 2"/>
          <p:cNvSpPr/>
          <p:nvPr/>
        </p:nvSpPr>
        <p:spPr>
          <a:xfrm>
            <a:off x="793790" y="2840950"/>
            <a:ext cx="13042821" cy="1778556"/>
          </a:xfrm>
          <a:prstGeom prst="roundRect">
            <a:avLst>
              <a:gd name="adj" fmla="val 1674"/>
            </a:avLst>
          </a:prstGeom>
          <a:solidFill>
            <a:srgbClr val="EDEBE3"/>
          </a:solidFill>
          <a:ln/>
        </p:spPr>
      </p:sp>
      <p:sp>
        <p:nvSpPr>
          <p:cNvPr id="5" name="Shape 3"/>
          <p:cNvSpPr/>
          <p:nvPr/>
        </p:nvSpPr>
        <p:spPr>
          <a:xfrm>
            <a:off x="793790" y="2840950"/>
            <a:ext cx="4347567" cy="1778556"/>
          </a:xfrm>
          <a:prstGeom prst="roundRect">
            <a:avLst>
              <a:gd name="adj" fmla="val 1674"/>
            </a:avLst>
          </a:prstGeom>
          <a:solidFill>
            <a:srgbClr val="EDEBE3"/>
          </a:solidFill>
          <a:ln/>
        </p:spPr>
      </p:sp>
      <p:sp>
        <p:nvSpPr>
          <p:cNvPr id="6" name="Text 4"/>
          <p:cNvSpPr/>
          <p:nvPr/>
        </p:nvSpPr>
        <p:spPr>
          <a:xfrm>
            <a:off x="992148" y="30393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Embedding Vectors</a:t>
            </a:r>
            <a:endParaRPr lang="en-US" sz="1950" dirty="0"/>
          </a:p>
        </p:txBody>
      </p:sp>
      <p:sp>
        <p:nvSpPr>
          <p:cNvPr id="7" name="Text 5"/>
          <p:cNvSpPr/>
          <p:nvPr/>
        </p:nvSpPr>
        <p:spPr>
          <a:xfrm>
            <a:off x="992148" y="3468529"/>
            <a:ext cx="3653076"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Converts the user's query into numerical vector representations.</a:t>
            </a:r>
            <a:endParaRPr lang="en-US" sz="1550" dirty="0"/>
          </a:p>
        </p:txBody>
      </p:sp>
      <p:sp>
        <p:nvSpPr>
          <p:cNvPr id="8" name="Shape 6"/>
          <p:cNvSpPr/>
          <p:nvPr/>
        </p:nvSpPr>
        <p:spPr>
          <a:xfrm>
            <a:off x="5141357" y="2840950"/>
            <a:ext cx="4347567" cy="1778556"/>
          </a:xfrm>
          <a:prstGeom prst="rect">
            <a:avLst/>
          </a:prstGeom>
          <a:solidFill>
            <a:srgbClr val="EDEBE3"/>
          </a:solidFill>
          <a:ln/>
        </p:spPr>
      </p:sp>
      <p:sp>
        <p:nvSpPr>
          <p:cNvPr id="9" name="Shape 7"/>
          <p:cNvSpPr/>
          <p:nvPr/>
        </p:nvSpPr>
        <p:spPr>
          <a:xfrm>
            <a:off x="5141357" y="2840950"/>
            <a:ext cx="22860" cy="1778556"/>
          </a:xfrm>
          <a:prstGeom prst="roundRect">
            <a:avLst>
              <a:gd name="adj" fmla="val 130232"/>
            </a:avLst>
          </a:prstGeom>
          <a:solidFill>
            <a:srgbClr val="D3D1C9"/>
          </a:solidFill>
          <a:ln/>
        </p:spPr>
      </p:sp>
      <p:sp>
        <p:nvSpPr>
          <p:cNvPr id="10" name="Text 8"/>
          <p:cNvSpPr/>
          <p:nvPr/>
        </p:nvSpPr>
        <p:spPr>
          <a:xfrm>
            <a:off x="5637490" y="30393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Similarity Search</a:t>
            </a:r>
            <a:endParaRPr lang="en-US" sz="1950" dirty="0"/>
          </a:p>
        </p:txBody>
      </p:sp>
      <p:sp>
        <p:nvSpPr>
          <p:cNvPr id="11" name="Text 9"/>
          <p:cNvSpPr/>
          <p:nvPr/>
        </p:nvSpPr>
        <p:spPr>
          <a:xfrm>
            <a:off x="5637490" y="3468529"/>
            <a:ext cx="3355300"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Searches a vector database to find documents with the most similar embeddings.</a:t>
            </a:r>
            <a:endParaRPr lang="en-US" sz="1550" dirty="0"/>
          </a:p>
        </p:txBody>
      </p:sp>
      <p:sp>
        <p:nvSpPr>
          <p:cNvPr id="12" name="Shape 10"/>
          <p:cNvSpPr/>
          <p:nvPr/>
        </p:nvSpPr>
        <p:spPr>
          <a:xfrm>
            <a:off x="4893350" y="3482161"/>
            <a:ext cx="496133" cy="496133"/>
          </a:xfrm>
          <a:prstGeom prst="roundRect">
            <a:avLst>
              <a:gd name="adj" fmla="val 6001"/>
            </a:avLst>
          </a:prstGeom>
          <a:solidFill>
            <a:srgbClr val="F9F8F5"/>
          </a:solidFill>
          <a:ln w="22860">
            <a:solidFill>
              <a:srgbClr val="D3D1C9"/>
            </a:solidFill>
            <a:prstDash val="solid"/>
          </a:ln>
        </p:spPr>
      </p:sp>
      <p:pic>
        <p:nvPicPr>
          <p:cNvPr id="13" name="Image 0" descr="preencoded.png"/>
          <p:cNvPicPr>
            <a:picLocks noChangeAspect="1"/>
          </p:cNvPicPr>
          <p:nvPr/>
        </p:nvPicPr>
        <p:blipFill>
          <a:blip r:embed="rId3"/>
          <a:stretch>
            <a:fillRect/>
          </a:stretch>
        </p:blipFill>
        <p:spPr>
          <a:xfrm>
            <a:off x="5017413" y="3575149"/>
            <a:ext cx="248007" cy="310039"/>
          </a:xfrm>
          <a:prstGeom prst="rect">
            <a:avLst/>
          </a:prstGeom>
        </p:spPr>
      </p:pic>
      <p:sp>
        <p:nvSpPr>
          <p:cNvPr id="14" name="Shape 11"/>
          <p:cNvSpPr/>
          <p:nvPr/>
        </p:nvSpPr>
        <p:spPr>
          <a:xfrm>
            <a:off x="9488924" y="2840950"/>
            <a:ext cx="4347567" cy="1778556"/>
          </a:xfrm>
          <a:prstGeom prst="rect">
            <a:avLst/>
          </a:prstGeom>
          <a:solidFill>
            <a:srgbClr val="EDEBE3"/>
          </a:solidFill>
          <a:ln/>
        </p:spPr>
      </p:sp>
      <p:sp>
        <p:nvSpPr>
          <p:cNvPr id="15" name="Shape 12"/>
          <p:cNvSpPr/>
          <p:nvPr/>
        </p:nvSpPr>
        <p:spPr>
          <a:xfrm>
            <a:off x="9488924" y="2840950"/>
            <a:ext cx="22860" cy="1778556"/>
          </a:xfrm>
          <a:prstGeom prst="roundRect">
            <a:avLst>
              <a:gd name="adj" fmla="val 130232"/>
            </a:avLst>
          </a:prstGeom>
          <a:solidFill>
            <a:srgbClr val="D3D1C9"/>
          </a:solidFill>
          <a:ln/>
        </p:spPr>
      </p:sp>
      <p:sp>
        <p:nvSpPr>
          <p:cNvPr id="16" name="Text 13"/>
          <p:cNvSpPr/>
          <p:nvPr/>
        </p:nvSpPr>
        <p:spPr>
          <a:xfrm>
            <a:off x="9985058" y="30393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Knowledge Storage</a:t>
            </a:r>
            <a:endParaRPr lang="en-US" sz="1950" dirty="0"/>
          </a:p>
        </p:txBody>
      </p:sp>
      <p:sp>
        <p:nvSpPr>
          <p:cNvPr id="17" name="Text 14"/>
          <p:cNvSpPr/>
          <p:nvPr/>
        </p:nvSpPr>
        <p:spPr>
          <a:xfrm>
            <a:off x="9985058" y="3468529"/>
            <a:ext cx="3653076"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Knowledge base chunks are also pre-converted to embeddings for rapid search.</a:t>
            </a:r>
            <a:endParaRPr lang="en-US" sz="1550" dirty="0"/>
          </a:p>
        </p:txBody>
      </p:sp>
      <p:sp>
        <p:nvSpPr>
          <p:cNvPr id="18" name="Shape 15"/>
          <p:cNvSpPr/>
          <p:nvPr/>
        </p:nvSpPr>
        <p:spPr>
          <a:xfrm>
            <a:off x="9240917" y="3482161"/>
            <a:ext cx="496133" cy="496133"/>
          </a:xfrm>
          <a:prstGeom prst="roundRect">
            <a:avLst>
              <a:gd name="adj" fmla="val 6001"/>
            </a:avLst>
          </a:prstGeom>
          <a:solidFill>
            <a:srgbClr val="F9F8F5"/>
          </a:solidFill>
          <a:ln w="22860">
            <a:solidFill>
              <a:srgbClr val="D3D1C9"/>
            </a:solidFill>
            <a:prstDash val="solid"/>
          </a:ln>
        </p:spPr>
      </p:sp>
      <p:pic>
        <p:nvPicPr>
          <p:cNvPr id="19" name="Image 1" descr="preencoded.png"/>
          <p:cNvPicPr>
            <a:picLocks noChangeAspect="1"/>
          </p:cNvPicPr>
          <p:nvPr/>
        </p:nvPicPr>
        <p:blipFill>
          <a:blip r:embed="rId4"/>
          <a:stretch>
            <a:fillRect/>
          </a:stretch>
        </p:blipFill>
        <p:spPr>
          <a:xfrm>
            <a:off x="9364980" y="3575149"/>
            <a:ext cx="248007" cy="310039"/>
          </a:xfrm>
          <a:prstGeom prst="rect">
            <a:avLst/>
          </a:prstGeom>
        </p:spPr>
      </p:pic>
      <p:sp>
        <p:nvSpPr>
          <p:cNvPr id="20" name="Text 16"/>
          <p:cNvSpPr/>
          <p:nvPr/>
        </p:nvSpPr>
        <p:spPr>
          <a:xfrm>
            <a:off x="793790" y="4842748"/>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161613"/>
                </a:solidFill>
                <a:latin typeface="Inter" pitchFamily="34" charset="0"/>
                <a:ea typeface="Inter" pitchFamily="34" charset="-122"/>
                <a:cs typeface="Inter" pitchFamily="34" charset="-120"/>
              </a:rPr>
              <a:t>Retrieval Techniques:</a:t>
            </a:r>
            <a:endParaRPr lang="en-US" sz="1550" dirty="0"/>
          </a:p>
        </p:txBody>
      </p:sp>
      <p:sp>
        <p:nvSpPr>
          <p:cNvPr id="21" name="Text 17"/>
          <p:cNvSpPr/>
          <p:nvPr/>
        </p:nvSpPr>
        <p:spPr>
          <a:xfrm>
            <a:off x="793790" y="5383530"/>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Dense Retrieval:</a:t>
            </a:r>
            <a:r>
              <a:rPr lang="en-US" sz="1550" dirty="0">
                <a:solidFill>
                  <a:srgbClr val="161613"/>
                </a:solidFill>
                <a:latin typeface="Inter" pitchFamily="34" charset="0"/>
                <a:ea typeface="Inter" pitchFamily="34" charset="-122"/>
                <a:cs typeface="Inter" pitchFamily="34" charset="-120"/>
              </a:rPr>
              <a:t> Relies on deep learning models to create embeddings. Examples include FAISS, Milvus, and Pinecone for efficient similarity search.</a:t>
            </a:r>
            <a:endParaRPr lang="en-US" sz="1550" dirty="0"/>
          </a:p>
        </p:txBody>
      </p:sp>
      <p:sp>
        <p:nvSpPr>
          <p:cNvPr id="22" name="Text 18"/>
          <p:cNvSpPr/>
          <p:nvPr/>
        </p:nvSpPr>
        <p:spPr>
          <a:xfrm>
            <a:off x="793790" y="6088023"/>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Sparse Retrieval:</a:t>
            </a:r>
            <a:r>
              <a:rPr lang="en-US" sz="1550" dirty="0">
                <a:solidFill>
                  <a:srgbClr val="161613"/>
                </a:solidFill>
                <a:latin typeface="Inter" pitchFamily="34" charset="0"/>
                <a:ea typeface="Inter" pitchFamily="34" charset="-122"/>
                <a:cs typeface="Inter" pitchFamily="34" charset="-120"/>
              </a:rPr>
              <a:t> Uses traditional keyword-based methods like BM25 (Best Match 25) or TF-IDF (Term Frequency-Inverse Document Frequency). While less context-aware, they can be highly effective for specific query types.</a:t>
            </a:r>
            <a:endParaRPr lang="en-US" sz="1550" dirty="0"/>
          </a:p>
        </p:txBody>
      </p:sp>
      <p:sp>
        <p:nvSpPr>
          <p:cNvPr id="23" name="Text 19"/>
          <p:cNvSpPr/>
          <p:nvPr/>
        </p:nvSpPr>
        <p:spPr>
          <a:xfrm>
            <a:off x="793790" y="694634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An efficient Retriever is paramount, reducing the likelihood of irrelevant results and enhancing the overall quality of RAG's output.</a:t>
            </a:r>
            <a:endParaRPr lang="en-US" sz="1550" dirty="0"/>
          </a:p>
        </p:txBody>
      </p:sp>
      <p:sp>
        <p:nvSpPr>
          <p:cNvPr id="24" name="Rectangle 23">
            <a:extLst>
              <a:ext uri="{FF2B5EF4-FFF2-40B4-BE49-F238E27FC236}">
                <a16:creationId xmlns:a16="http://schemas.microsoft.com/office/drawing/2014/main" id="{F8DDC2D4-2FD7-A0BF-E8F4-5DE19F575020}"/>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9116" y="377547"/>
            <a:ext cx="5424368" cy="428982"/>
          </a:xfrm>
          <a:prstGeom prst="rect">
            <a:avLst/>
          </a:prstGeom>
          <a:noFill/>
          <a:ln/>
        </p:spPr>
        <p:txBody>
          <a:bodyPr wrap="none" lIns="0" tIns="0" rIns="0" bIns="0" rtlCol="0" anchor="t"/>
          <a:lstStyle/>
          <a:p>
            <a:pPr marL="0" indent="0" algn="l">
              <a:lnSpc>
                <a:spcPts val="3350"/>
              </a:lnSpc>
              <a:buNone/>
            </a:pPr>
            <a:r>
              <a:rPr lang="en-US" sz="2700" dirty="0">
                <a:solidFill>
                  <a:srgbClr val="161613"/>
                </a:solidFill>
                <a:latin typeface="DM Sans Medium" pitchFamily="34" charset="0"/>
                <a:ea typeface="DM Sans Medium" pitchFamily="34" charset="-122"/>
                <a:cs typeface="DM Sans Medium" pitchFamily="34" charset="-120"/>
              </a:rPr>
              <a:t>Deep Dive: The Generator Module</a:t>
            </a:r>
            <a:endParaRPr lang="en-US" sz="2700" dirty="0"/>
          </a:p>
        </p:txBody>
      </p:sp>
      <p:sp>
        <p:nvSpPr>
          <p:cNvPr id="4" name="Text 2"/>
          <p:cNvSpPr/>
          <p:nvPr/>
        </p:nvSpPr>
        <p:spPr>
          <a:xfrm>
            <a:off x="459906" y="2382593"/>
            <a:ext cx="6687892" cy="1356472"/>
          </a:xfrm>
          <a:prstGeom prst="rect">
            <a:avLst/>
          </a:prstGeom>
          <a:noFill/>
          <a:ln/>
        </p:spPr>
        <p:txBody>
          <a:bodyPr wrap="square" lIns="0" tIns="0" rIns="0" bIns="0" rtlCol="0" anchor="t"/>
          <a:lstStyle/>
          <a:p>
            <a:pPr marL="0" indent="0" algn="just">
              <a:lnSpc>
                <a:spcPts val="1700"/>
              </a:lnSpc>
              <a:buNone/>
            </a:pPr>
            <a:r>
              <a:rPr lang="en-US" dirty="0">
                <a:solidFill>
                  <a:srgbClr val="161613"/>
                </a:solidFill>
                <a:latin typeface="Inter" pitchFamily="34" charset="0"/>
                <a:ea typeface="Inter" pitchFamily="34" charset="-122"/>
                <a:cs typeface="Inter" pitchFamily="34" charset="-120"/>
              </a:rPr>
              <a:t>This module is essentially a pre-trained Large Language Model (LLM) that has been fine-tuned for </a:t>
            </a:r>
            <a:r>
              <a:rPr lang="en-US" dirty="0">
                <a:solidFill>
                  <a:srgbClr val="28282F"/>
                </a:solidFill>
                <a:latin typeface="Inter" pitchFamily="34" charset="0"/>
                <a:ea typeface="Inter" pitchFamily="34" charset="-122"/>
                <a:cs typeface="Inter" pitchFamily="34" charset="-120"/>
              </a:rPr>
              <a:t>context conditioning</a:t>
            </a:r>
            <a:r>
              <a:rPr lang="en-US" dirty="0">
                <a:solidFill>
                  <a:srgbClr val="161613"/>
                </a:solidFill>
                <a:latin typeface="Inter" pitchFamily="34" charset="0"/>
                <a:ea typeface="Inter" pitchFamily="34" charset="-122"/>
                <a:cs typeface="Inter" pitchFamily="34" charset="-120"/>
              </a:rPr>
              <a:t>. It receives the user's original query and the relevant text chunks retrieved by the Retriever, then combines them to generate the final output.</a:t>
            </a:r>
            <a:endParaRPr lang="en-US" dirty="0"/>
          </a:p>
        </p:txBody>
      </p:sp>
      <p:sp>
        <p:nvSpPr>
          <p:cNvPr id="5" name="Text 3"/>
          <p:cNvSpPr/>
          <p:nvPr/>
        </p:nvSpPr>
        <p:spPr>
          <a:xfrm>
            <a:off x="459906" y="3769112"/>
            <a:ext cx="6598682" cy="219551"/>
          </a:xfrm>
          <a:prstGeom prst="rect">
            <a:avLst/>
          </a:prstGeom>
          <a:noFill/>
          <a:ln/>
        </p:spPr>
        <p:txBody>
          <a:bodyPr wrap="none" lIns="0" tIns="0" rIns="0" bIns="0" rtlCol="0" anchor="t"/>
          <a:lstStyle/>
          <a:p>
            <a:pPr marL="0" indent="0" algn="l">
              <a:lnSpc>
                <a:spcPts val="1700"/>
              </a:lnSpc>
              <a:buNone/>
            </a:pPr>
            <a:r>
              <a:rPr lang="en-US" b="1" dirty="0">
                <a:solidFill>
                  <a:srgbClr val="161613"/>
                </a:solidFill>
                <a:latin typeface="Inter" pitchFamily="34" charset="0"/>
                <a:ea typeface="Inter" pitchFamily="34" charset="-122"/>
                <a:cs typeface="Inter" pitchFamily="34" charset="-120"/>
              </a:rPr>
              <a:t>Key Functions:</a:t>
            </a:r>
            <a:endParaRPr lang="en-US" dirty="0"/>
          </a:p>
        </p:txBody>
      </p:sp>
      <p:sp>
        <p:nvSpPr>
          <p:cNvPr id="6" name="Text 4"/>
          <p:cNvSpPr/>
          <p:nvPr/>
        </p:nvSpPr>
        <p:spPr>
          <a:xfrm>
            <a:off x="459906" y="4112131"/>
            <a:ext cx="6598682" cy="439102"/>
          </a:xfrm>
          <a:prstGeom prst="rect">
            <a:avLst/>
          </a:prstGeom>
          <a:noFill/>
          <a:ln/>
        </p:spPr>
        <p:txBody>
          <a:bodyPr wrap="square" lIns="0" tIns="0" rIns="0" bIns="0" rtlCol="0" anchor="t"/>
          <a:lstStyle/>
          <a:p>
            <a:pPr marL="342900" indent="-342900" algn="l">
              <a:lnSpc>
                <a:spcPts val="1700"/>
              </a:lnSpc>
              <a:buSzPct val="100000"/>
              <a:buChar char="•"/>
            </a:pPr>
            <a:r>
              <a:rPr lang="en-US" b="1" dirty="0">
                <a:solidFill>
                  <a:srgbClr val="161613"/>
                </a:solidFill>
                <a:latin typeface="Inter" pitchFamily="34" charset="0"/>
                <a:ea typeface="Inter" pitchFamily="34" charset="-122"/>
                <a:cs typeface="Inter" pitchFamily="34" charset="-120"/>
              </a:rPr>
              <a:t>Contextual Fluency:</a:t>
            </a:r>
            <a:r>
              <a:rPr lang="en-US" dirty="0">
                <a:solidFill>
                  <a:srgbClr val="161613"/>
                </a:solidFill>
                <a:latin typeface="Inter" pitchFamily="34" charset="0"/>
                <a:ea typeface="Inter" pitchFamily="34" charset="-122"/>
                <a:cs typeface="Inter" pitchFamily="34" charset="-120"/>
              </a:rPr>
              <a:t> Ensures the generated text is natural, coherent, and integrates the retrieved information seamlessly.</a:t>
            </a:r>
            <a:endParaRPr lang="en-US" dirty="0"/>
          </a:p>
        </p:txBody>
      </p:sp>
      <p:sp>
        <p:nvSpPr>
          <p:cNvPr id="7" name="Text 5"/>
          <p:cNvSpPr/>
          <p:nvPr/>
        </p:nvSpPr>
        <p:spPr>
          <a:xfrm>
            <a:off x="459906" y="4933752"/>
            <a:ext cx="6598682" cy="439102"/>
          </a:xfrm>
          <a:prstGeom prst="rect">
            <a:avLst/>
          </a:prstGeom>
          <a:noFill/>
          <a:ln/>
        </p:spPr>
        <p:txBody>
          <a:bodyPr wrap="square" lIns="0" tIns="0" rIns="0" bIns="0" rtlCol="0" anchor="t"/>
          <a:lstStyle/>
          <a:p>
            <a:pPr marL="342900" indent="-342900" algn="l">
              <a:lnSpc>
                <a:spcPts val="1700"/>
              </a:lnSpc>
              <a:buSzPct val="100000"/>
              <a:buChar char="•"/>
            </a:pPr>
            <a:r>
              <a:rPr lang="en-US" b="1" dirty="0">
                <a:solidFill>
                  <a:srgbClr val="161613"/>
                </a:solidFill>
                <a:latin typeface="Inter" pitchFamily="34" charset="0"/>
                <a:ea typeface="Inter" pitchFamily="34" charset="-122"/>
                <a:cs typeface="Inter" pitchFamily="34" charset="-120"/>
              </a:rPr>
              <a:t>Reduced Hallucination:</a:t>
            </a:r>
            <a:r>
              <a:rPr lang="en-US" dirty="0">
                <a:solidFill>
                  <a:srgbClr val="161613"/>
                </a:solidFill>
                <a:latin typeface="Inter" pitchFamily="34" charset="0"/>
                <a:ea typeface="Inter" pitchFamily="34" charset="-122"/>
                <a:cs typeface="Inter" pitchFamily="34" charset="-120"/>
              </a:rPr>
              <a:t> By grounding responses in external data, the Generator significantly minimizes the tendency of LLMs to fabricate information.</a:t>
            </a:r>
            <a:endParaRPr lang="en-US" dirty="0"/>
          </a:p>
        </p:txBody>
      </p:sp>
      <p:sp>
        <p:nvSpPr>
          <p:cNvPr id="8" name="Text 6"/>
          <p:cNvSpPr/>
          <p:nvPr/>
        </p:nvSpPr>
        <p:spPr>
          <a:xfrm>
            <a:off x="459906" y="5755374"/>
            <a:ext cx="6598682" cy="439102"/>
          </a:xfrm>
          <a:prstGeom prst="rect">
            <a:avLst/>
          </a:prstGeom>
          <a:noFill/>
          <a:ln/>
        </p:spPr>
        <p:txBody>
          <a:bodyPr wrap="square" lIns="0" tIns="0" rIns="0" bIns="0" rtlCol="0" anchor="t"/>
          <a:lstStyle/>
          <a:p>
            <a:pPr marL="342900" indent="-342900" algn="l">
              <a:lnSpc>
                <a:spcPts val="1700"/>
              </a:lnSpc>
              <a:buSzPct val="100000"/>
              <a:buChar char="•"/>
            </a:pPr>
            <a:r>
              <a:rPr lang="en-US" b="1" dirty="0">
                <a:solidFill>
                  <a:srgbClr val="161613"/>
                </a:solidFill>
                <a:latin typeface="Inter" pitchFamily="34" charset="0"/>
                <a:ea typeface="Inter" pitchFamily="34" charset="-122"/>
                <a:cs typeface="Inter" pitchFamily="34" charset="-120"/>
              </a:rPr>
              <a:t>Real-time Data Integration:</a:t>
            </a:r>
            <a:r>
              <a:rPr lang="en-US" dirty="0">
                <a:solidFill>
                  <a:srgbClr val="161613"/>
                </a:solidFill>
                <a:latin typeface="Inter" pitchFamily="34" charset="0"/>
                <a:ea typeface="Inter" pitchFamily="34" charset="-122"/>
                <a:cs typeface="Inter" pitchFamily="34" charset="-120"/>
              </a:rPr>
              <a:t> Allows for the inclusion of the most current and specific information available in the knowledge base.</a:t>
            </a:r>
            <a:endParaRPr lang="en-US" dirty="0"/>
          </a:p>
        </p:txBody>
      </p:sp>
      <p:pic>
        <p:nvPicPr>
          <p:cNvPr id="9" name="Image 0" descr="preencoded.png"/>
          <p:cNvPicPr>
            <a:picLocks noChangeAspect="1"/>
          </p:cNvPicPr>
          <p:nvPr/>
        </p:nvPicPr>
        <p:blipFill>
          <a:blip r:embed="rId3"/>
          <a:stretch>
            <a:fillRect/>
          </a:stretch>
        </p:blipFill>
        <p:spPr>
          <a:xfrm>
            <a:off x="7824758" y="817602"/>
            <a:ext cx="6598682" cy="6598682"/>
          </a:xfrm>
          <a:prstGeom prst="rect">
            <a:avLst/>
          </a:prstGeom>
        </p:spPr>
      </p:pic>
      <p:sp>
        <p:nvSpPr>
          <p:cNvPr id="10" name="Text 7"/>
          <p:cNvSpPr/>
          <p:nvPr/>
        </p:nvSpPr>
        <p:spPr>
          <a:xfrm>
            <a:off x="7490222" y="8362593"/>
            <a:ext cx="6598682" cy="658654"/>
          </a:xfrm>
          <a:prstGeom prst="rect">
            <a:avLst/>
          </a:prstGeom>
          <a:noFill/>
          <a:ln/>
        </p:spPr>
        <p:txBody>
          <a:bodyPr wrap="square" lIns="0" tIns="0" rIns="0" bIns="0" rtlCol="0" anchor="t"/>
          <a:lstStyle/>
          <a:p>
            <a:pPr marL="0" indent="0" algn="l">
              <a:lnSpc>
                <a:spcPts val="1700"/>
              </a:lnSpc>
              <a:buNone/>
            </a:pPr>
            <a:r>
              <a:rPr lang="en-US" sz="1050" b="1" dirty="0">
                <a:solidFill>
                  <a:srgbClr val="161613"/>
                </a:solidFill>
                <a:latin typeface="Inter" pitchFamily="34" charset="0"/>
                <a:ea typeface="Inter" pitchFamily="34" charset="-122"/>
                <a:cs typeface="Inter" pitchFamily="34" charset="-120"/>
              </a:rPr>
              <a:t>Examples of Generators:</a:t>
            </a:r>
            <a:r>
              <a:rPr lang="en-US" sz="1050" dirty="0">
                <a:solidFill>
                  <a:srgbClr val="161613"/>
                </a:solidFill>
                <a:latin typeface="Inter" pitchFamily="34" charset="0"/>
                <a:ea typeface="Inter" pitchFamily="34" charset="-122"/>
                <a:cs typeface="Inter" pitchFamily="34" charset="-120"/>
              </a:rPr>
              <a:t> Models like T5, BART, and various GPT-based architectures are commonly employed as Generators in RAG systems, each bringing their unique strengths in language understanding and generation.</a:t>
            </a:r>
            <a:endParaRPr lang="en-US" sz="1050" dirty="0"/>
          </a:p>
        </p:txBody>
      </p:sp>
      <p:sp>
        <p:nvSpPr>
          <p:cNvPr id="11" name="Rectangle 10">
            <a:extLst>
              <a:ext uri="{FF2B5EF4-FFF2-40B4-BE49-F238E27FC236}">
                <a16:creationId xmlns:a16="http://schemas.microsoft.com/office/drawing/2014/main" id="{E58E3D61-B273-776A-7803-3FE7A53A7D51}"/>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996B725-B573-1D4E-B0C4-9CF89B1932C5}"/>
              </a:ext>
            </a:extLst>
          </p:cNvPr>
          <p:cNvSpPr txBox="1"/>
          <p:nvPr/>
        </p:nvSpPr>
        <p:spPr>
          <a:xfrm>
            <a:off x="377904" y="1182264"/>
            <a:ext cx="6941106" cy="1200329"/>
          </a:xfrm>
          <a:prstGeom prst="rect">
            <a:avLst/>
          </a:prstGeom>
          <a:noFill/>
        </p:spPr>
        <p:txBody>
          <a:bodyPr wrap="square" rtlCol="0">
            <a:spAutoFit/>
          </a:bodyPr>
          <a:lstStyle/>
          <a:p>
            <a:pPr algn="just"/>
            <a:r>
              <a:rPr lang="en-US" dirty="0">
                <a:solidFill>
                  <a:srgbClr val="161613"/>
                </a:solidFill>
                <a:latin typeface="Inter" pitchFamily="34" charset="0"/>
                <a:ea typeface="Inter" pitchFamily="34" charset="-122"/>
                <a:cs typeface="Inter" pitchFamily="34" charset="-120"/>
              </a:rPr>
              <a:t>The Generator acts as the intelligent </a:t>
            </a:r>
            <a:r>
              <a:rPr lang="en-US" dirty="0" err="1">
                <a:solidFill>
                  <a:srgbClr val="161613"/>
                </a:solidFill>
                <a:latin typeface="Inter" pitchFamily="34" charset="0"/>
                <a:ea typeface="Inter" pitchFamily="34" charset="-122"/>
                <a:cs typeface="Inter" pitchFamily="34" charset="-120"/>
              </a:rPr>
              <a:t>synthesiser</a:t>
            </a:r>
            <a:r>
              <a:rPr lang="en-US" dirty="0">
                <a:solidFill>
                  <a:srgbClr val="161613"/>
                </a:solidFill>
                <a:latin typeface="Inter" pitchFamily="34" charset="0"/>
                <a:ea typeface="Inter" pitchFamily="34" charset="-122"/>
                <a:cs typeface="Inter" pitchFamily="34" charset="-120"/>
              </a:rPr>
              <a:t> of information, taking the retrieved context and crafting a final, coherent response.</a:t>
            </a:r>
            <a:endParaRPr lang="en-US"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10590"/>
            <a:ext cx="9775865"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RAG vs. Traditional LLMs: A Paradigm Shift</a:t>
            </a:r>
            <a:endParaRPr lang="en-US" sz="3900" dirty="0"/>
          </a:p>
        </p:txBody>
      </p:sp>
      <p:sp>
        <p:nvSpPr>
          <p:cNvPr id="3" name="Text 1"/>
          <p:cNvSpPr/>
          <p:nvPr/>
        </p:nvSpPr>
        <p:spPr>
          <a:xfrm>
            <a:off x="793790" y="192750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Understanding the fundamental differences between RAG and traditional LLMs highlights why RAG represents a significant leap forward in AI capabilities.</a:t>
            </a:r>
            <a:endParaRPr lang="en-US" sz="1550" dirty="0"/>
          </a:p>
        </p:txBody>
      </p:sp>
      <p:sp>
        <p:nvSpPr>
          <p:cNvPr id="4" name="Shape 2"/>
          <p:cNvSpPr/>
          <p:nvPr/>
        </p:nvSpPr>
        <p:spPr>
          <a:xfrm>
            <a:off x="793790" y="2785824"/>
            <a:ext cx="13042821" cy="3674745"/>
          </a:xfrm>
          <a:prstGeom prst="roundRect">
            <a:avLst>
              <a:gd name="adj" fmla="val 810"/>
            </a:avLst>
          </a:prstGeom>
          <a:noFill/>
          <a:ln w="7620">
            <a:solidFill>
              <a:srgbClr val="000000">
                <a:alpha val="8000"/>
              </a:srgbClr>
            </a:solidFill>
            <a:prstDash val="solid"/>
          </a:ln>
        </p:spPr>
      </p:sp>
      <p:sp>
        <p:nvSpPr>
          <p:cNvPr id="5" name="Shape 3"/>
          <p:cNvSpPr/>
          <p:nvPr/>
        </p:nvSpPr>
        <p:spPr>
          <a:xfrm>
            <a:off x="801410" y="2793444"/>
            <a:ext cx="13027581" cy="3659505"/>
          </a:xfrm>
          <a:prstGeom prst="rect">
            <a:avLst/>
          </a:prstGeom>
          <a:solidFill>
            <a:srgbClr val="FFFFFF">
              <a:alpha val="4000"/>
            </a:srgbClr>
          </a:solidFill>
          <a:ln/>
        </p:spPr>
      </p:sp>
      <p:sp>
        <p:nvSpPr>
          <p:cNvPr id="6" name="Text 4"/>
          <p:cNvSpPr/>
          <p:nvPr/>
        </p:nvSpPr>
        <p:spPr>
          <a:xfrm>
            <a:off x="999768" y="29201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Traditional LLMs</a:t>
            </a:r>
            <a:endParaRPr lang="en-US" sz="1950" dirty="0"/>
          </a:p>
        </p:txBody>
      </p:sp>
      <p:sp>
        <p:nvSpPr>
          <p:cNvPr id="7" name="Text 5"/>
          <p:cNvSpPr/>
          <p:nvPr/>
        </p:nvSpPr>
        <p:spPr>
          <a:xfrm>
            <a:off x="999768" y="3349347"/>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Static Knowledge:</a:t>
            </a:r>
            <a:r>
              <a:rPr lang="en-US" sz="1550" dirty="0">
                <a:solidFill>
                  <a:srgbClr val="161613"/>
                </a:solidFill>
                <a:latin typeface="Inter" pitchFamily="34" charset="0"/>
                <a:ea typeface="Inter" pitchFamily="34" charset="-122"/>
                <a:cs typeface="Inter" pitchFamily="34" charset="-120"/>
              </a:rPr>
              <a:t> Knowledge is fixed at the time of training. Cannot access new information post-training.</a:t>
            </a:r>
            <a:endParaRPr lang="en-US" sz="1550" dirty="0"/>
          </a:p>
        </p:txBody>
      </p:sp>
      <p:sp>
        <p:nvSpPr>
          <p:cNvPr id="8" name="Text 6"/>
          <p:cNvSpPr/>
          <p:nvPr/>
        </p:nvSpPr>
        <p:spPr>
          <a:xfrm>
            <a:off x="999768" y="4043958"/>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Hallucination Risk:</a:t>
            </a:r>
            <a:r>
              <a:rPr lang="en-US" sz="1550" dirty="0">
                <a:solidFill>
                  <a:srgbClr val="161613"/>
                </a:solidFill>
                <a:latin typeface="Inter" pitchFamily="34" charset="0"/>
                <a:ea typeface="Inter" pitchFamily="34" charset="-122"/>
                <a:cs typeface="Inter" pitchFamily="34" charset="-120"/>
              </a:rPr>
              <a:t> Prone to generating factually incorrect or fabricated information.</a:t>
            </a:r>
            <a:endParaRPr lang="en-US" sz="1550" dirty="0"/>
          </a:p>
        </p:txBody>
      </p:sp>
      <p:sp>
        <p:nvSpPr>
          <p:cNvPr id="9" name="Text 7"/>
          <p:cNvSpPr/>
          <p:nvPr/>
        </p:nvSpPr>
        <p:spPr>
          <a:xfrm>
            <a:off x="999768" y="4738568"/>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Costly Updates:</a:t>
            </a:r>
            <a:r>
              <a:rPr lang="en-US" sz="1550" dirty="0">
                <a:solidFill>
                  <a:srgbClr val="161613"/>
                </a:solidFill>
                <a:latin typeface="Inter" pitchFamily="34" charset="0"/>
                <a:ea typeface="Inter" pitchFamily="34" charset="-122"/>
                <a:cs typeface="Inter" pitchFamily="34" charset="-120"/>
              </a:rPr>
              <a:t> Requires expensive and time-consuming retraining to incorporate new data.</a:t>
            </a:r>
            <a:endParaRPr lang="en-US" sz="1550" dirty="0"/>
          </a:p>
        </p:txBody>
      </p:sp>
      <p:sp>
        <p:nvSpPr>
          <p:cNvPr id="10" name="Text 8"/>
          <p:cNvSpPr/>
          <p:nvPr/>
        </p:nvSpPr>
        <p:spPr>
          <a:xfrm>
            <a:off x="999768" y="5433179"/>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General Purpose:</a:t>
            </a:r>
            <a:r>
              <a:rPr lang="en-US" sz="1550" dirty="0">
                <a:solidFill>
                  <a:srgbClr val="161613"/>
                </a:solidFill>
                <a:latin typeface="Inter" pitchFamily="34" charset="0"/>
                <a:ea typeface="Inter" pitchFamily="34" charset="-122"/>
                <a:cs typeface="Inter" pitchFamily="34" charset="-120"/>
              </a:rPr>
              <a:t> Often lacks depth for highly specific, domain-centric queries without extensive fine-tuning.</a:t>
            </a:r>
            <a:endParaRPr lang="en-US" sz="1550" dirty="0"/>
          </a:p>
        </p:txBody>
      </p:sp>
      <p:sp>
        <p:nvSpPr>
          <p:cNvPr id="11" name="Text 9"/>
          <p:cNvSpPr/>
          <p:nvPr/>
        </p:nvSpPr>
        <p:spPr>
          <a:xfrm>
            <a:off x="7517368" y="2920127"/>
            <a:ext cx="4621173"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Retrieval-Augmented Generation (RAG)</a:t>
            </a:r>
            <a:endParaRPr lang="en-US" sz="1950" dirty="0"/>
          </a:p>
        </p:txBody>
      </p:sp>
      <p:sp>
        <p:nvSpPr>
          <p:cNvPr id="12" name="Text 10"/>
          <p:cNvSpPr/>
          <p:nvPr/>
        </p:nvSpPr>
        <p:spPr>
          <a:xfrm>
            <a:off x="7517368" y="3349347"/>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Dynamic Knowledge:</a:t>
            </a:r>
            <a:r>
              <a:rPr lang="en-US" sz="1550" dirty="0">
                <a:solidFill>
                  <a:srgbClr val="161613"/>
                </a:solidFill>
                <a:latin typeface="Inter" pitchFamily="34" charset="0"/>
                <a:ea typeface="Inter" pitchFamily="34" charset="-122"/>
                <a:cs typeface="Inter" pitchFamily="34" charset="-120"/>
              </a:rPr>
              <a:t> Accesses and integrates real-time, external information from knowledge bases.</a:t>
            </a:r>
            <a:endParaRPr lang="en-US" sz="1550" dirty="0"/>
          </a:p>
        </p:txBody>
      </p:sp>
      <p:sp>
        <p:nvSpPr>
          <p:cNvPr id="13" name="Text 11"/>
          <p:cNvSpPr/>
          <p:nvPr/>
        </p:nvSpPr>
        <p:spPr>
          <a:xfrm>
            <a:off x="7517368" y="4043958"/>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Enhanced Accuracy:</a:t>
            </a:r>
            <a:r>
              <a:rPr lang="en-US" sz="1550" dirty="0">
                <a:solidFill>
                  <a:srgbClr val="161613"/>
                </a:solidFill>
                <a:latin typeface="Inter" pitchFamily="34" charset="0"/>
                <a:ea typeface="Inter" pitchFamily="34" charset="-122"/>
                <a:cs typeface="Inter" pitchFamily="34" charset="-120"/>
              </a:rPr>
              <a:t> Significantly improves factual reliability by grounding responses in verifiable sources.</a:t>
            </a:r>
            <a:endParaRPr lang="en-US" sz="1550" dirty="0"/>
          </a:p>
        </p:txBody>
      </p:sp>
      <p:sp>
        <p:nvSpPr>
          <p:cNvPr id="14" name="Text 12"/>
          <p:cNvSpPr/>
          <p:nvPr/>
        </p:nvSpPr>
        <p:spPr>
          <a:xfrm>
            <a:off x="7517368" y="4738568"/>
            <a:ext cx="6113264"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Efficient Updates:</a:t>
            </a:r>
            <a:r>
              <a:rPr lang="en-US" sz="1550" dirty="0">
                <a:solidFill>
                  <a:srgbClr val="161613"/>
                </a:solidFill>
                <a:latin typeface="Inter" pitchFamily="34" charset="0"/>
                <a:ea typeface="Inter" pitchFamily="34" charset="-122"/>
                <a:cs typeface="Inter" pitchFamily="34" charset="-120"/>
              </a:rPr>
              <a:t> Knowledge updates are as simple as updating the external database, not retraining the entire model.</a:t>
            </a:r>
            <a:endParaRPr lang="en-US" sz="1550" dirty="0"/>
          </a:p>
        </p:txBody>
      </p:sp>
      <p:sp>
        <p:nvSpPr>
          <p:cNvPr id="15" name="Text 13"/>
          <p:cNvSpPr/>
          <p:nvPr/>
        </p:nvSpPr>
        <p:spPr>
          <a:xfrm>
            <a:off x="7517368" y="5750719"/>
            <a:ext cx="611326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161613"/>
                </a:solidFill>
                <a:latin typeface="Inter" pitchFamily="34" charset="0"/>
                <a:ea typeface="Inter" pitchFamily="34" charset="-122"/>
                <a:cs typeface="Inter" pitchFamily="34" charset="-120"/>
              </a:rPr>
              <a:t>Domain Adaptability:</a:t>
            </a:r>
            <a:r>
              <a:rPr lang="en-US" sz="1550" dirty="0">
                <a:solidFill>
                  <a:srgbClr val="161613"/>
                </a:solidFill>
                <a:latin typeface="Inter" pitchFamily="34" charset="0"/>
                <a:ea typeface="Inter" pitchFamily="34" charset="-122"/>
                <a:cs typeface="Inter" pitchFamily="34" charset="-120"/>
              </a:rPr>
              <a:t> Easily customized to specific industries or proprietary data without full model retraining.</a:t>
            </a:r>
            <a:endParaRPr lang="en-US" sz="1550" dirty="0"/>
          </a:p>
        </p:txBody>
      </p:sp>
      <p:sp>
        <p:nvSpPr>
          <p:cNvPr id="16" name="Text 14"/>
          <p:cNvSpPr/>
          <p:nvPr/>
        </p:nvSpPr>
        <p:spPr>
          <a:xfrm>
            <a:off x="793790" y="668381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RAG combines the generative power of LLMs with the factual precision of search engines, offering the best of both worlds for robust and reliable AI systems.</a:t>
            </a:r>
            <a:endParaRPr lang="en-US" sz="1550" dirty="0"/>
          </a:p>
        </p:txBody>
      </p:sp>
      <p:sp>
        <p:nvSpPr>
          <p:cNvPr id="17" name="Rectangle 16">
            <a:extLst>
              <a:ext uri="{FF2B5EF4-FFF2-40B4-BE49-F238E27FC236}">
                <a16:creationId xmlns:a16="http://schemas.microsoft.com/office/drawing/2014/main" id="{75F0681A-E37D-2411-9B40-229F83989100}"/>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25372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RAG Use Cases</a:t>
            </a:r>
            <a:endParaRPr lang="en-US" sz="3900" dirty="0"/>
          </a:p>
        </p:txBody>
      </p:sp>
      <p:sp>
        <p:nvSpPr>
          <p:cNvPr id="3" name="Text 1"/>
          <p:cNvSpPr/>
          <p:nvPr/>
        </p:nvSpPr>
        <p:spPr>
          <a:xfrm>
            <a:off x="793790" y="227064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Retrieval-Augmented Generation (RAG) is transforming various sectors by enabling AI systems to deliver precise, contextually relevant, and up-to-date information.</a:t>
            </a:r>
            <a:endParaRPr lang="en-US" sz="1550" dirty="0"/>
          </a:p>
        </p:txBody>
      </p:sp>
      <p:sp>
        <p:nvSpPr>
          <p:cNvPr id="4" name="Shape 2"/>
          <p:cNvSpPr/>
          <p:nvPr/>
        </p:nvSpPr>
        <p:spPr>
          <a:xfrm>
            <a:off x="793790" y="3128963"/>
            <a:ext cx="6422231" cy="1824276"/>
          </a:xfrm>
          <a:prstGeom prst="roundRect">
            <a:avLst>
              <a:gd name="adj" fmla="val 1632"/>
            </a:avLst>
          </a:prstGeom>
          <a:solidFill>
            <a:srgbClr val="F9F8F5"/>
          </a:solidFill>
          <a:ln w="22860">
            <a:solidFill>
              <a:srgbClr val="D3D1C9"/>
            </a:solidFill>
            <a:prstDash val="solid"/>
          </a:ln>
        </p:spPr>
      </p:sp>
      <p:sp>
        <p:nvSpPr>
          <p:cNvPr id="5" name="Shape 3"/>
          <p:cNvSpPr/>
          <p:nvPr/>
        </p:nvSpPr>
        <p:spPr>
          <a:xfrm>
            <a:off x="793790" y="3128963"/>
            <a:ext cx="91440" cy="1824276"/>
          </a:xfrm>
          <a:prstGeom prst="roundRect">
            <a:avLst>
              <a:gd name="adj" fmla="val 32558"/>
            </a:avLst>
          </a:prstGeom>
          <a:solidFill>
            <a:srgbClr val="28282F"/>
          </a:solidFill>
          <a:ln/>
        </p:spPr>
      </p:sp>
      <p:sp>
        <p:nvSpPr>
          <p:cNvPr id="6" name="Text 4"/>
          <p:cNvSpPr/>
          <p:nvPr/>
        </p:nvSpPr>
        <p:spPr>
          <a:xfrm>
            <a:off x="1106448" y="3350181"/>
            <a:ext cx="3395305"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Enhanced Customer Support</a:t>
            </a:r>
            <a:endParaRPr lang="en-US" sz="1950" dirty="0"/>
          </a:p>
        </p:txBody>
      </p:sp>
      <p:sp>
        <p:nvSpPr>
          <p:cNvPr id="7" name="Text 5"/>
          <p:cNvSpPr/>
          <p:nvPr/>
        </p:nvSpPr>
        <p:spPr>
          <a:xfrm>
            <a:off x="1106448" y="3779401"/>
            <a:ext cx="5888355"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Provides accurate, real-time answers from product manuals, FAQs, and customer data, significantly improving resolution rates and customer satisfaction.</a:t>
            </a:r>
            <a:endParaRPr lang="en-US" sz="1550" dirty="0"/>
          </a:p>
        </p:txBody>
      </p:sp>
      <p:sp>
        <p:nvSpPr>
          <p:cNvPr id="8" name="Shape 6"/>
          <p:cNvSpPr/>
          <p:nvPr/>
        </p:nvSpPr>
        <p:spPr>
          <a:xfrm>
            <a:off x="7414379" y="3128963"/>
            <a:ext cx="6422231" cy="1824276"/>
          </a:xfrm>
          <a:prstGeom prst="roundRect">
            <a:avLst>
              <a:gd name="adj" fmla="val 1632"/>
            </a:avLst>
          </a:prstGeom>
          <a:solidFill>
            <a:srgbClr val="F9F8F5"/>
          </a:solidFill>
          <a:ln w="22860">
            <a:solidFill>
              <a:srgbClr val="D3D1C9"/>
            </a:solidFill>
            <a:prstDash val="solid"/>
          </a:ln>
        </p:spPr>
      </p:sp>
      <p:sp>
        <p:nvSpPr>
          <p:cNvPr id="9" name="Shape 7"/>
          <p:cNvSpPr/>
          <p:nvPr/>
        </p:nvSpPr>
        <p:spPr>
          <a:xfrm>
            <a:off x="7414379" y="3128963"/>
            <a:ext cx="91440" cy="1824276"/>
          </a:xfrm>
          <a:prstGeom prst="roundRect">
            <a:avLst>
              <a:gd name="adj" fmla="val 32558"/>
            </a:avLst>
          </a:prstGeom>
          <a:solidFill>
            <a:srgbClr val="28282F"/>
          </a:solidFill>
          <a:ln/>
        </p:spPr>
      </p:sp>
      <p:sp>
        <p:nvSpPr>
          <p:cNvPr id="10" name="Text 8"/>
          <p:cNvSpPr/>
          <p:nvPr/>
        </p:nvSpPr>
        <p:spPr>
          <a:xfrm>
            <a:off x="7727037" y="3350181"/>
            <a:ext cx="3813691"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Internal Knowledge Management</a:t>
            </a:r>
            <a:endParaRPr lang="en-US" sz="1950" dirty="0"/>
          </a:p>
        </p:txBody>
      </p:sp>
      <p:sp>
        <p:nvSpPr>
          <p:cNvPr id="11" name="Text 9"/>
          <p:cNvSpPr/>
          <p:nvPr/>
        </p:nvSpPr>
        <p:spPr>
          <a:xfrm>
            <a:off x="7727037" y="3779401"/>
            <a:ext cx="5888355"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Empowers employees with intelligent search over internal documents, reports, and policies, streamlining operations and boosting organisational productivity.</a:t>
            </a:r>
            <a:endParaRPr lang="en-US" sz="1550" dirty="0"/>
          </a:p>
        </p:txBody>
      </p:sp>
      <p:sp>
        <p:nvSpPr>
          <p:cNvPr id="12" name="Shape 10"/>
          <p:cNvSpPr/>
          <p:nvPr/>
        </p:nvSpPr>
        <p:spPr>
          <a:xfrm>
            <a:off x="793790" y="5151596"/>
            <a:ext cx="6422231" cy="1824276"/>
          </a:xfrm>
          <a:prstGeom prst="roundRect">
            <a:avLst>
              <a:gd name="adj" fmla="val 1632"/>
            </a:avLst>
          </a:prstGeom>
          <a:solidFill>
            <a:srgbClr val="F9F8F5"/>
          </a:solidFill>
          <a:ln w="22860">
            <a:solidFill>
              <a:srgbClr val="D3D1C9"/>
            </a:solidFill>
            <a:prstDash val="solid"/>
          </a:ln>
        </p:spPr>
      </p:sp>
      <p:sp>
        <p:nvSpPr>
          <p:cNvPr id="13" name="Shape 11"/>
          <p:cNvSpPr/>
          <p:nvPr/>
        </p:nvSpPr>
        <p:spPr>
          <a:xfrm>
            <a:off x="793790" y="5151596"/>
            <a:ext cx="91440" cy="1824276"/>
          </a:xfrm>
          <a:prstGeom prst="roundRect">
            <a:avLst>
              <a:gd name="adj" fmla="val 32558"/>
            </a:avLst>
          </a:prstGeom>
          <a:solidFill>
            <a:srgbClr val="28282F"/>
          </a:solidFill>
          <a:ln/>
        </p:spPr>
      </p:sp>
      <p:sp>
        <p:nvSpPr>
          <p:cNvPr id="14" name="Text 12"/>
          <p:cNvSpPr/>
          <p:nvPr/>
        </p:nvSpPr>
        <p:spPr>
          <a:xfrm>
            <a:off x="1106448" y="5372814"/>
            <a:ext cx="3466148"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Scientific &amp; Medical Research</a:t>
            </a:r>
            <a:endParaRPr lang="en-US" sz="1950" dirty="0"/>
          </a:p>
        </p:txBody>
      </p:sp>
      <p:sp>
        <p:nvSpPr>
          <p:cNvPr id="15" name="Text 13"/>
          <p:cNvSpPr/>
          <p:nvPr/>
        </p:nvSpPr>
        <p:spPr>
          <a:xfrm>
            <a:off x="1106448" y="5802035"/>
            <a:ext cx="5888355"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Facilitates rapid access to the latest research papers, clinical guidelines, and drug information, aiding researchers and healthcare practitioners in critical decision-making.</a:t>
            </a:r>
            <a:endParaRPr lang="en-US" sz="1550" dirty="0"/>
          </a:p>
        </p:txBody>
      </p:sp>
      <p:sp>
        <p:nvSpPr>
          <p:cNvPr id="16" name="Shape 14"/>
          <p:cNvSpPr/>
          <p:nvPr/>
        </p:nvSpPr>
        <p:spPr>
          <a:xfrm>
            <a:off x="7414379" y="5151596"/>
            <a:ext cx="6422231" cy="1824276"/>
          </a:xfrm>
          <a:prstGeom prst="roundRect">
            <a:avLst>
              <a:gd name="adj" fmla="val 1632"/>
            </a:avLst>
          </a:prstGeom>
          <a:solidFill>
            <a:srgbClr val="F9F8F5"/>
          </a:solidFill>
          <a:ln w="22860">
            <a:solidFill>
              <a:srgbClr val="D3D1C9"/>
            </a:solidFill>
            <a:prstDash val="solid"/>
          </a:ln>
        </p:spPr>
      </p:sp>
      <p:sp>
        <p:nvSpPr>
          <p:cNvPr id="17" name="Shape 15"/>
          <p:cNvSpPr/>
          <p:nvPr/>
        </p:nvSpPr>
        <p:spPr>
          <a:xfrm>
            <a:off x="7414379" y="5151596"/>
            <a:ext cx="91440" cy="1824276"/>
          </a:xfrm>
          <a:prstGeom prst="roundRect">
            <a:avLst>
              <a:gd name="adj" fmla="val 32558"/>
            </a:avLst>
          </a:prstGeom>
          <a:solidFill>
            <a:srgbClr val="28282F"/>
          </a:solidFill>
          <a:ln/>
        </p:spPr>
      </p:sp>
      <p:sp>
        <p:nvSpPr>
          <p:cNvPr id="18" name="Text 16"/>
          <p:cNvSpPr/>
          <p:nvPr/>
        </p:nvSpPr>
        <p:spPr>
          <a:xfrm>
            <a:off x="7727037" y="5372814"/>
            <a:ext cx="3502938"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Financial Analysis &amp; Reporting</a:t>
            </a:r>
            <a:endParaRPr lang="en-US" sz="1950" dirty="0"/>
          </a:p>
        </p:txBody>
      </p:sp>
      <p:sp>
        <p:nvSpPr>
          <p:cNvPr id="19" name="Text 17"/>
          <p:cNvSpPr/>
          <p:nvPr/>
        </p:nvSpPr>
        <p:spPr>
          <a:xfrm>
            <a:off x="7727037" y="5802035"/>
            <a:ext cx="5888355" cy="95261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Offers real-time insights by querying vast repositories of market data, company reports, and financial news, supporting informed investment strategies and compliance.</a:t>
            </a:r>
            <a:endParaRPr lang="en-US" sz="1550" dirty="0"/>
          </a:p>
        </p:txBody>
      </p:sp>
      <p:sp>
        <p:nvSpPr>
          <p:cNvPr id="20" name="Rectangle 19">
            <a:extLst>
              <a:ext uri="{FF2B5EF4-FFF2-40B4-BE49-F238E27FC236}">
                <a16:creationId xmlns:a16="http://schemas.microsoft.com/office/drawing/2014/main" id="{03D7A5F4-B93F-51C1-0B93-84554539BFB9}"/>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2320" y="729615"/>
            <a:ext cx="7752159" cy="1087517"/>
          </a:xfrm>
          <a:prstGeom prst="rect">
            <a:avLst/>
          </a:prstGeom>
          <a:noFill/>
          <a:ln/>
        </p:spPr>
        <p:txBody>
          <a:bodyPr wrap="square" lIns="0" tIns="0" rIns="0" bIns="0" rtlCol="0" anchor="t"/>
          <a:lstStyle/>
          <a:p>
            <a:pPr marL="0" indent="0" algn="l">
              <a:lnSpc>
                <a:spcPts val="4250"/>
              </a:lnSpc>
              <a:buNone/>
            </a:pPr>
            <a:r>
              <a:rPr lang="en-US" sz="3400" dirty="0">
                <a:solidFill>
                  <a:srgbClr val="161613"/>
                </a:solidFill>
                <a:latin typeface="DM Sans Medium" pitchFamily="34" charset="0"/>
                <a:ea typeface="DM Sans Medium" pitchFamily="34" charset="-122"/>
                <a:cs typeface="DM Sans Medium" pitchFamily="34" charset="-120"/>
              </a:rPr>
              <a:t>RAG vs. Fine-tuning: A Strategic Comparison</a:t>
            </a:r>
            <a:endParaRPr lang="en-US" sz="3400" dirty="0"/>
          </a:p>
        </p:txBody>
      </p:sp>
      <p:sp>
        <p:nvSpPr>
          <p:cNvPr id="4" name="Text 1"/>
          <p:cNvSpPr/>
          <p:nvPr/>
        </p:nvSpPr>
        <p:spPr>
          <a:xfrm>
            <a:off x="6182320" y="2078117"/>
            <a:ext cx="7752159" cy="556498"/>
          </a:xfrm>
          <a:prstGeom prst="rect">
            <a:avLst/>
          </a:prstGeom>
          <a:noFill/>
          <a:ln/>
        </p:spPr>
        <p:txBody>
          <a:bodyPr wrap="square" lIns="0" tIns="0" rIns="0" bIns="0" rtlCol="0" anchor="t"/>
          <a:lstStyle/>
          <a:p>
            <a:pPr marL="0" indent="0" algn="l">
              <a:lnSpc>
                <a:spcPts val="2150"/>
              </a:lnSpc>
              <a:buNone/>
            </a:pPr>
            <a:r>
              <a:rPr lang="en-US" sz="1350" dirty="0">
                <a:solidFill>
                  <a:srgbClr val="161613"/>
                </a:solidFill>
                <a:latin typeface="Inter" pitchFamily="34" charset="0"/>
                <a:ea typeface="Inter" pitchFamily="34" charset="-122"/>
                <a:cs typeface="Inter" pitchFamily="34" charset="-120"/>
              </a:rPr>
              <a:t>While both Retrieval-Augmented Generation (RAG) and fine-tuning enhance Large Language Models (LLMs), they serve different purposes and offer unique advantages.</a:t>
            </a:r>
            <a:endParaRPr lang="en-US" sz="1350" dirty="0"/>
          </a:p>
        </p:txBody>
      </p:sp>
      <p:sp>
        <p:nvSpPr>
          <p:cNvPr id="5" name="Text 2"/>
          <p:cNvSpPr/>
          <p:nvPr/>
        </p:nvSpPr>
        <p:spPr>
          <a:xfrm>
            <a:off x="6182320" y="3004304"/>
            <a:ext cx="3663791" cy="543639"/>
          </a:xfrm>
          <a:prstGeom prst="rect">
            <a:avLst/>
          </a:prstGeom>
          <a:noFill/>
          <a:ln/>
        </p:spPr>
        <p:txBody>
          <a:bodyPr wrap="square" lIns="0" tIns="0" rIns="0" bIns="0" rtlCol="0" anchor="t"/>
          <a:lstStyle/>
          <a:p>
            <a:pPr marL="0" indent="0" algn="l">
              <a:lnSpc>
                <a:spcPts val="2100"/>
              </a:lnSpc>
              <a:buNone/>
            </a:pPr>
            <a:r>
              <a:rPr lang="en-US" sz="1700" dirty="0">
                <a:solidFill>
                  <a:srgbClr val="161613"/>
                </a:solidFill>
                <a:latin typeface="DM Sans Medium" pitchFamily="34" charset="0"/>
                <a:ea typeface="DM Sans Medium" pitchFamily="34" charset="-122"/>
                <a:cs typeface="DM Sans Medium" pitchFamily="34" charset="-120"/>
              </a:rPr>
              <a:t>Retrieval-Augmented Generation (RAG)</a:t>
            </a:r>
            <a:endParaRPr lang="en-US" sz="1700" dirty="0"/>
          </a:p>
        </p:txBody>
      </p:sp>
      <p:sp>
        <p:nvSpPr>
          <p:cNvPr id="6" name="Text 3"/>
          <p:cNvSpPr/>
          <p:nvPr/>
        </p:nvSpPr>
        <p:spPr>
          <a:xfrm>
            <a:off x="6182320" y="3721894"/>
            <a:ext cx="3663791" cy="834747"/>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Dynamic Knowledge:</a:t>
            </a:r>
            <a:r>
              <a:rPr lang="en-US" sz="1350" dirty="0">
                <a:solidFill>
                  <a:srgbClr val="161613"/>
                </a:solidFill>
                <a:latin typeface="Inter" pitchFamily="34" charset="0"/>
                <a:ea typeface="Inter" pitchFamily="34" charset="-122"/>
                <a:cs typeface="Inter" pitchFamily="34" charset="-120"/>
              </a:rPr>
              <a:t> Integrates external, up-to-date information at inference time.</a:t>
            </a:r>
            <a:endParaRPr lang="en-US" sz="1350" dirty="0"/>
          </a:p>
        </p:txBody>
      </p:sp>
      <p:sp>
        <p:nvSpPr>
          <p:cNvPr id="7" name="Text 4"/>
          <p:cNvSpPr/>
          <p:nvPr/>
        </p:nvSpPr>
        <p:spPr>
          <a:xfrm>
            <a:off x="6182320" y="4617482"/>
            <a:ext cx="3663791" cy="556498"/>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Reduced Hallucinations:</a:t>
            </a:r>
            <a:r>
              <a:rPr lang="en-US" sz="1350" dirty="0">
                <a:solidFill>
                  <a:srgbClr val="161613"/>
                </a:solidFill>
                <a:latin typeface="Inter" pitchFamily="34" charset="0"/>
                <a:ea typeface="Inter" pitchFamily="34" charset="-122"/>
                <a:cs typeface="Inter" pitchFamily="34" charset="-120"/>
              </a:rPr>
              <a:t> Grounds responses in verifiable external sources.</a:t>
            </a:r>
            <a:endParaRPr lang="en-US" sz="1350" dirty="0"/>
          </a:p>
        </p:txBody>
      </p:sp>
      <p:sp>
        <p:nvSpPr>
          <p:cNvPr id="8" name="Text 5"/>
          <p:cNvSpPr/>
          <p:nvPr/>
        </p:nvSpPr>
        <p:spPr>
          <a:xfrm>
            <a:off x="6182320" y="5234821"/>
            <a:ext cx="3663791" cy="834747"/>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Cost-Effective Updates:</a:t>
            </a:r>
            <a:r>
              <a:rPr lang="en-US" sz="1350" dirty="0">
                <a:solidFill>
                  <a:srgbClr val="161613"/>
                </a:solidFill>
                <a:latin typeface="Inter" pitchFamily="34" charset="0"/>
                <a:ea typeface="Inter" pitchFamily="34" charset="-122"/>
                <a:cs typeface="Inter" pitchFamily="34" charset="-120"/>
              </a:rPr>
              <a:t> Knowledge base updates don't require model retraining.</a:t>
            </a:r>
            <a:endParaRPr lang="en-US" sz="1350" dirty="0"/>
          </a:p>
        </p:txBody>
      </p:sp>
      <p:sp>
        <p:nvSpPr>
          <p:cNvPr id="9" name="Text 6"/>
          <p:cNvSpPr/>
          <p:nvPr/>
        </p:nvSpPr>
        <p:spPr>
          <a:xfrm>
            <a:off x="6182320" y="6130409"/>
            <a:ext cx="3663791" cy="556498"/>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Traceability:</a:t>
            </a:r>
            <a:r>
              <a:rPr lang="en-US" sz="1350" dirty="0">
                <a:solidFill>
                  <a:srgbClr val="161613"/>
                </a:solidFill>
                <a:latin typeface="Inter" pitchFamily="34" charset="0"/>
                <a:ea typeface="Inter" pitchFamily="34" charset="-122"/>
                <a:cs typeface="Inter" pitchFamily="34" charset="-120"/>
              </a:rPr>
              <a:t> Provides clear citations for generated content.</a:t>
            </a:r>
            <a:endParaRPr lang="en-US" sz="1350" dirty="0"/>
          </a:p>
        </p:txBody>
      </p:sp>
      <p:sp>
        <p:nvSpPr>
          <p:cNvPr id="10" name="Text 7"/>
          <p:cNvSpPr/>
          <p:nvPr/>
        </p:nvSpPr>
        <p:spPr>
          <a:xfrm>
            <a:off x="10278308" y="3004304"/>
            <a:ext cx="2175034" cy="271820"/>
          </a:xfrm>
          <a:prstGeom prst="rect">
            <a:avLst/>
          </a:prstGeom>
          <a:noFill/>
          <a:ln/>
        </p:spPr>
        <p:txBody>
          <a:bodyPr wrap="none" lIns="0" tIns="0" rIns="0" bIns="0" rtlCol="0" anchor="t"/>
          <a:lstStyle/>
          <a:p>
            <a:pPr marL="0" indent="0" algn="l">
              <a:lnSpc>
                <a:spcPts val="2100"/>
              </a:lnSpc>
              <a:buNone/>
            </a:pPr>
            <a:r>
              <a:rPr lang="en-US" sz="1700" dirty="0">
                <a:solidFill>
                  <a:srgbClr val="161613"/>
                </a:solidFill>
                <a:latin typeface="DM Sans Medium" pitchFamily="34" charset="0"/>
                <a:ea typeface="DM Sans Medium" pitchFamily="34" charset="-122"/>
                <a:cs typeface="DM Sans Medium" pitchFamily="34" charset="-120"/>
              </a:rPr>
              <a:t>Fine-tuning</a:t>
            </a:r>
            <a:endParaRPr lang="en-US" sz="1700" dirty="0"/>
          </a:p>
        </p:txBody>
      </p:sp>
      <p:sp>
        <p:nvSpPr>
          <p:cNvPr id="11" name="Text 8"/>
          <p:cNvSpPr/>
          <p:nvPr/>
        </p:nvSpPr>
        <p:spPr>
          <a:xfrm>
            <a:off x="10278308" y="3450074"/>
            <a:ext cx="3663791" cy="834747"/>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Deep Domain Understanding:</a:t>
            </a:r>
            <a:r>
              <a:rPr lang="en-US" sz="1350" dirty="0">
                <a:solidFill>
                  <a:srgbClr val="161613"/>
                </a:solidFill>
                <a:latin typeface="Inter" pitchFamily="34" charset="0"/>
                <a:ea typeface="Inter" pitchFamily="34" charset="-122"/>
                <a:cs typeface="Inter" pitchFamily="34" charset="-120"/>
              </a:rPr>
              <a:t> Adapts the model's internal weights for specific data and tasks.</a:t>
            </a:r>
            <a:endParaRPr lang="en-US" sz="1350" dirty="0"/>
          </a:p>
        </p:txBody>
      </p:sp>
      <p:sp>
        <p:nvSpPr>
          <p:cNvPr id="12" name="Text 9"/>
          <p:cNvSpPr/>
          <p:nvPr/>
        </p:nvSpPr>
        <p:spPr>
          <a:xfrm>
            <a:off x="10278308" y="4345662"/>
            <a:ext cx="3663791" cy="556498"/>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Style &amp; Tone:</a:t>
            </a:r>
            <a:r>
              <a:rPr lang="en-US" sz="1350" dirty="0">
                <a:solidFill>
                  <a:srgbClr val="161613"/>
                </a:solidFill>
                <a:latin typeface="Inter" pitchFamily="34" charset="0"/>
                <a:ea typeface="Inter" pitchFamily="34" charset="-122"/>
                <a:cs typeface="Inter" pitchFamily="34" charset="-120"/>
              </a:rPr>
              <a:t> Teaches the model to adopt a particular voice or format.</a:t>
            </a:r>
            <a:endParaRPr lang="en-US" sz="1350" dirty="0"/>
          </a:p>
        </p:txBody>
      </p:sp>
      <p:sp>
        <p:nvSpPr>
          <p:cNvPr id="13" name="Text 10"/>
          <p:cNvSpPr/>
          <p:nvPr/>
        </p:nvSpPr>
        <p:spPr>
          <a:xfrm>
            <a:off x="10278308" y="4963001"/>
            <a:ext cx="3663791" cy="556498"/>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Efficiency:</a:t>
            </a:r>
            <a:r>
              <a:rPr lang="en-US" sz="1350" dirty="0">
                <a:solidFill>
                  <a:srgbClr val="161613"/>
                </a:solidFill>
                <a:latin typeface="Inter" pitchFamily="34" charset="0"/>
                <a:ea typeface="Inter" pitchFamily="34" charset="-122"/>
                <a:cs typeface="Inter" pitchFamily="34" charset="-120"/>
              </a:rPr>
              <a:t> No external retrieval step during inference once trained.</a:t>
            </a:r>
            <a:endParaRPr lang="en-US" sz="1350" dirty="0"/>
          </a:p>
        </p:txBody>
      </p:sp>
      <p:sp>
        <p:nvSpPr>
          <p:cNvPr id="14" name="Text 11"/>
          <p:cNvSpPr/>
          <p:nvPr/>
        </p:nvSpPr>
        <p:spPr>
          <a:xfrm>
            <a:off x="10278308" y="5580340"/>
            <a:ext cx="3663791" cy="834747"/>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161613"/>
                </a:solidFill>
                <a:latin typeface="Inter" pitchFamily="34" charset="0"/>
                <a:ea typeface="Inter" pitchFamily="34" charset="-122"/>
                <a:cs typeface="Inter" pitchFamily="34" charset="-120"/>
              </a:rPr>
              <a:t>Task Specificity:</a:t>
            </a:r>
            <a:r>
              <a:rPr lang="en-US" sz="1350" dirty="0">
                <a:solidFill>
                  <a:srgbClr val="161613"/>
                </a:solidFill>
                <a:latin typeface="Inter" pitchFamily="34" charset="0"/>
                <a:ea typeface="Inter" pitchFamily="34" charset="-122"/>
                <a:cs typeface="Inter" pitchFamily="34" charset="-120"/>
              </a:rPr>
              <a:t> Excels in highly specialised tasks with limited external context.</a:t>
            </a:r>
            <a:endParaRPr lang="en-US" sz="1350" dirty="0"/>
          </a:p>
        </p:txBody>
      </p:sp>
      <p:sp>
        <p:nvSpPr>
          <p:cNvPr id="15" name="Text 12"/>
          <p:cNvSpPr/>
          <p:nvPr/>
        </p:nvSpPr>
        <p:spPr>
          <a:xfrm>
            <a:off x="6182320" y="6943487"/>
            <a:ext cx="7752159" cy="556498"/>
          </a:xfrm>
          <a:prstGeom prst="rect">
            <a:avLst/>
          </a:prstGeom>
          <a:noFill/>
          <a:ln/>
        </p:spPr>
        <p:txBody>
          <a:bodyPr wrap="square" lIns="0" tIns="0" rIns="0" bIns="0" rtlCol="0" anchor="t"/>
          <a:lstStyle/>
          <a:p>
            <a:pPr marL="0" indent="0" algn="l">
              <a:lnSpc>
                <a:spcPts val="2150"/>
              </a:lnSpc>
              <a:buNone/>
            </a:pPr>
            <a:r>
              <a:rPr lang="en-US" sz="1350" dirty="0">
                <a:solidFill>
                  <a:srgbClr val="161613"/>
                </a:solidFill>
                <a:latin typeface="Inter" pitchFamily="34" charset="0"/>
                <a:ea typeface="Inter" pitchFamily="34" charset="-122"/>
                <a:cs typeface="Inter" pitchFamily="34" charset="-120"/>
              </a:rPr>
              <a:t>Choosing between RAG and fine-tuning, or combining both, depends on the specific application's need for real-time data, factual accuracy, and domain specialisation.</a:t>
            </a:r>
            <a:endParaRPr lang="en-US" sz="1350" dirty="0"/>
          </a:p>
        </p:txBody>
      </p:sp>
      <p:sp>
        <p:nvSpPr>
          <p:cNvPr id="16" name="Rectangle 15">
            <a:extLst>
              <a:ext uri="{FF2B5EF4-FFF2-40B4-BE49-F238E27FC236}">
                <a16:creationId xmlns:a16="http://schemas.microsoft.com/office/drawing/2014/main" id="{D31BC634-8E01-7599-3E57-C068A9EC0A95}"/>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665798"/>
            <a:ext cx="6063258"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Security Concerns of RAG</a:t>
            </a:r>
            <a:endParaRPr lang="en-US" sz="3900" dirty="0"/>
          </a:p>
        </p:txBody>
      </p:sp>
      <p:sp>
        <p:nvSpPr>
          <p:cNvPr id="3" name="Text 1"/>
          <p:cNvSpPr/>
          <p:nvPr/>
        </p:nvSpPr>
        <p:spPr>
          <a:xfrm>
            <a:off x="793790" y="168271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While Retrieval-Augmented Generation (RAG) significantly enhances LLM capabilities, it also introduces unique security challenges that demand careful consideration and robust mitigation strategies.</a:t>
            </a:r>
            <a:endParaRPr lang="en-US" sz="1550" dirty="0"/>
          </a:p>
        </p:txBody>
      </p:sp>
      <p:sp>
        <p:nvSpPr>
          <p:cNvPr id="4" name="Shape 2"/>
          <p:cNvSpPr/>
          <p:nvPr/>
        </p:nvSpPr>
        <p:spPr>
          <a:xfrm>
            <a:off x="793790" y="2541032"/>
            <a:ext cx="6422231" cy="2141815"/>
          </a:xfrm>
          <a:prstGeom prst="roundRect">
            <a:avLst>
              <a:gd name="adj" fmla="val 1390"/>
            </a:avLst>
          </a:prstGeom>
          <a:solidFill>
            <a:srgbClr val="F9F8F5"/>
          </a:solidFill>
          <a:ln w="22860">
            <a:solidFill>
              <a:srgbClr val="D3D1C9"/>
            </a:solidFill>
            <a:prstDash val="solid"/>
          </a:ln>
        </p:spPr>
      </p:sp>
      <p:sp>
        <p:nvSpPr>
          <p:cNvPr id="5" name="Text 3"/>
          <p:cNvSpPr/>
          <p:nvPr/>
        </p:nvSpPr>
        <p:spPr>
          <a:xfrm>
            <a:off x="1015008" y="2762250"/>
            <a:ext cx="2732842"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Data Privacy &amp; Leakage</a:t>
            </a:r>
            <a:endParaRPr lang="en-US" sz="1950" dirty="0"/>
          </a:p>
        </p:txBody>
      </p:sp>
      <p:sp>
        <p:nvSpPr>
          <p:cNvPr id="6" name="Text 4"/>
          <p:cNvSpPr/>
          <p:nvPr/>
        </p:nvSpPr>
        <p:spPr>
          <a:xfrm>
            <a:off x="1015008" y="3191470"/>
            <a:ext cx="5979795"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RAG systems retrieve information from diverse data sources, increasing the risk of inadvertently exposing sensitive or proprietary data if not properly secured, leading to potential compliance and privacy breaches.</a:t>
            </a:r>
            <a:endParaRPr lang="en-US" sz="1550" dirty="0"/>
          </a:p>
        </p:txBody>
      </p:sp>
      <p:sp>
        <p:nvSpPr>
          <p:cNvPr id="7" name="Shape 5"/>
          <p:cNvSpPr/>
          <p:nvPr/>
        </p:nvSpPr>
        <p:spPr>
          <a:xfrm>
            <a:off x="7414379" y="2541032"/>
            <a:ext cx="6422231" cy="2141815"/>
          </a:xfrm>
          <a:prstGeom prst="roundRect">
            <a:avLst>
              <a:gd name="adj" fmla="val 1390"/>
            </a:avLst>
          </a:prstGeom>
          <a:solidFill>
            <a:srgbClr val="F9F8F5"/>
          </a:solidFill>
          <a:ln w="22860">
            <a:solidFill>
              <a:srgbClr val="D3D1C9"/>
            </a:solidFill>
            <a:prstDash val="solid"/>
          </a:ln>
        </p:spPr>
      </p:sp>
      <p:sp>
        <p:nvSpPr>
          <p:cNvPr id="8" name="Text 6"/>
          <p:cNvSpPr/>
          <p:nvPr/>
        </p:nvSpPr>
        <p:spPr>
          <a:xfrm>
            <a:off x="7635597" y="2762250"/>
            <a:ext cx="3027997"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Data Poisoning &amp; Integrity</a:t>
            </a:r>
            <a:endParaRPr lang="en-US" sz="1950" dirty="0"/>
          </a:p>
        </p:txBody>
      </p:sp>
      <p:sp>
        <p:nvSpPr>
          <p:cNvPr id="9" name="Text 7"/>
          <p:cNvSpPr/>
          <p:nvPr/>
        </p:nvSpPr>
        <p:spPr>
          <a:xfrm>
            <a:off x="7635597" y="3191470"/>
            <a:ext cx="5979795"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The external knowledge base, if compromised, can be poisoned with malicious or inaccurate information. This directly impacts the RAG system's output, leading to false, biased, or harmful generations.</a:t>
            </a:r>
            <a:endParaRPr lang="en-US" sz="1550" dirty="0"/>
          </a:p>
        </p:txBody>
      </p:sp>
      <p:sp>
        <p:nvSpPr>
          <p:cNvPr id="10" name="Shape 8"/>
          <p:cNvSpPr/>
          <p:nvPr/>
        </p:nvSpPr>
        <p:spPr>
          <a:xfrm>
            <a:off x="793790" y="4881205"/>
            <a:ext cx="6422231" cy="2141815"/>
          </a:xfrm>
          <a:prstGeom prst="roundRect">
            <a:avLst>
              <a:gd name="adj" fmla="val 1390"/>
            </a:avLst>
          </a:prstGeom>
          <a:solidFill>
            <a:srgbClr val="F9F8F5"/>
          </a:solidFill>
          <a:ln w="22860">
            <a:solidFill>
              <a:srgbClr val="D3D1C9"/>
            </a:solidFill>
            <a:prstDash val="solid"/>
          </a:ln>
        </p:spPr>
      </p:sp>
      <p:sp>
        <p:nvSpPr>
          <p:cNvPr id="11" name="Text 9"/>
          <p:cNvSpPr/>
          <p:nvPr/>
        </p:nvSpPr>
        <p:spPr>
          <a:xfrm>
            <a:off x="1015008" y="5102423"/>
            <a:ext cx="3667601"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Prompt Injection Vulnerabilities</a:t>
            </a:r>
            <a:endParaRPr lang="en-US" sz="1950" dirty="0"/>
          </a:p>
        </p:txBody>
      </p:sp>
      <p:sp>
        <p:nvSpPr>
          <p:cNvPr id="12" name="Text 10"/>
          <p:cNvSpPr/>
          <p:nvPr/>
        </p:nvSpPr>
        <p:spPr>
          <a:xfrm>
            <a:off x="1015008" y="5531644"/>
            <a:ext cx="5979795"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Malicious users can craft prompts designed to manipulate both the retrieval and generation components, forcing the RAG system to bypass safeguards, reveal confidential data, or generate unintended responses.</a:t>
            </a:r>
            <a:endParaRPr lang="en-US" sz="1550" dirty="0"/>
          </a:p>
        </p:txBody>
      </p:sp>
      <p:sp>
        <p:nvSpPr>
          <p:cNvPr id="13" name="Shape 11"/>
          <p:cNvSpPr/>
          <p:nvPr/>
        </p:nvSpPr>
        <p:spPr>
          <a:xfrm>
            <a:off x="7414379" y="4881205"/>
            <a:ext cx="6422231" cy="2141815"/>
          </a:xfrm>
          <a:prstGeom prst="roundRect">
            <a:avLst>
              <a:gd name="adj" fmla="val 1390"/>
            </a:avLst>
          </a:prstGeom>
          <a:solidFill>
            <a:srgbClr val="F9F8F5"/>
          </a:solidFill>
          <a:ln w="22860">
            <a:solidFill>
              <a:srgbClr val="D3D1C9"/>
            </a:solidFill>
            <a:prstDash val="solid"/>
          </a:ln>
        </p:spPr>
      </p:sp>
      <p:sp>
        <p:nvSpPr>
          <p:cNvPr id="14" name="Text 12"/>
          <p:cNvSpPr/>
          <p:nvPr/>
        </p:nvSpPr>
        <p:spPr>
          <a:xfrm>
            <a:off x="7635597" y="5102423"/>
            <a:ext cx="3923228" cy="310158"/>
          </a:xfrm>
          <a:prstGeom prst="rect">
            <a:avLst/>
          </a:prstGeom>
          <a:noFill/>
          <a:ln/>
        </p:spPr>
        <p:txBody>
          <a:bodyPr wrap="none" lIns="0" tIns="0" rIns="0" bIns="0" rtlCol="0" anchor="t"/>
          <a:lstStyle/>
          <a:p>
            <a:pPr marL="0" indent="0" algn="l">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Source Veracity &amp; Misinformation</a:t>
            </a:r>
            <a:endParaRPr lang="en-US" sz="1950" dirty="0"/>
          </a:p>
        </p:txBody>
      </p:sp>
      <p:sp>
        <p:nvSpPr>
          <p:cNvPr id="15" name="Text 13"/>
          <p:cNvSpPr/>
          <p:nvPr/>
        </p:nvSpPr>
        <p:spPr>
          <a:xfrm>
            <a:off x="7635597" y="5531644"/>
            <a:ext cx="5979795" cy="1270159"/>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If the RAG system retrieves information from unreliable or unverified sources, it can inadvertently propagate misinformation, fake news, or unscientific claims, undermining trust and factual accuracy.</a:t>
            </a:r>
            <a:endParaRPr lang="en-US" sz="1550" dirty="0"/>
          </a:p>
        </p:txBody>
      </p:sp>
      <p:sp>
        <p:nvSpPr>
          <p:cNvPr id="16" name="Text 14"/>
          <p:cNvSpPr/>
          <p:nvPr/>
        </p:nvSpPr>
        <p:spPr>
          <a:xfrm>
            <a:off x="793790" y="724626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Addressing these concerns is paramount to ensure the responsible and secure deployment of RAG systems in critical applications.</a:t>
            </a:r>
            <a:endParaRPr lang="en-US" sz="1550" dirty="0"/>
          </a:p>
        </p:txBody>
      </p:sp>
      <p:sp>
        <p:nvSpPr>
          <p:cNvPr id="17" name="Rectangle 16">
            <a:extLst>
              <a:ext uri="{FF2B5EF4-FFF2-40B4-BE49-F238E27FC236}">
                <a16:creationId xmlns:a16="http://schemas.microsoft.com/office/drawing/2014/main" id="{5371CECA-A7C0-0996-4348-1459440C4F8A}"/>
              </a:ext>
            </a:extLst>
          </p:cNvPr>
          <p:cNvSpPr/>
          <p:nvPr/>
        </p:nvSpPr>
        <p:spPr>
          <a:xfrm>
            <a:off x="12879659" y="7794702"/>
            <a:ext cx="1750741" cy="434898"/>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a:ln/>
        </p:spPr>
      </p:sp>
      <p:sp>
        <p:nvSpPr>
          <p:cNvPr id="4" name="Text 1"/>
          <p:cNvSpPr/>
          <p:nvPr/>
        </p:nvSpPr>
        <p:spPr>
          <a:xfrm>
            <a:off x="2353389" y="2916555"/>
            <a:ext cx="9923621" cy="1240393"/>
          </a:xfrm>
          <a:prstGeom prst="rect">
            <a:avLst/>
          </a:prstGeom>
          <a:noFill/>
          <a:ln/>
        </p:spPr>
        <p:txBody>
          <a:bodyPr wrap="none" lIns="0" tIns="0" rIns="0" bIns="0" rtlCol="0" anchor="t"/>
          <a:lstStyle/>
          <a:p>
            <a:pPr marL="0" indent="0" algn="ctr">
              <a:lnSpc>
                <a:spcPts val="9750"/>
              </a:lnSpc>
              <a:buNone/>
            </a:pPr>
            <a:r>
              <a:rPr lang="en-US" sz="7800" dirty="0">
                <a:solidFill>
                  <a:srgbClr val="FFFFFF"/>
                </a:solidFill>
                <a:latin typeface="DM Sans Medium" pitchFamily="34" charset="0"/>
                <a:ea typeface="DM Sans Medium" pitchFamily="34" charset="-122"/>
                <a:cs typeface="DM Sans Medium" pitchFamily="34" charset="-120"/>
              </a:rPr>
              <a:t>Thank You</a:t>
            </a:r>
            <a:endParaRPr lang="en-US" sz="7800" dirty="0"/>
          </a:p>
        </p:txBody>
      </p:sp>
      <p:sp>
        <p:nvSpPr>
          <p:cNvPr id="5" name="Text 2"/>
          <p:cNvSpPr/>
          <p:nvPr/>
        </p:nvSpPr>
        <p:spPr>
          <a:xfrm>
            <a:off x="793790" y="4454604"/>
            <a:ext cx="13042821" cy="317540"/>
          </a:xfrm>
          <a:prstGeom prst="rect">
            <a:avLst/>
          </a:prstGeom>
          <a:noFill/>
          <a:ln/>
        </p:spPr>
        <p:txBody>
          <a:bodyPr wrap="none" lIns="0" tIns="0" rIns="0" bIns="0" rtlCol="0" anchor="t"/>
          <a:lstStyle/>
          <a:p>
            <a:pPr marL="0" indent="0" algn="ctr">
              <a:lnSpc>
                <a:spcPts val="2500"/>
              </a:lnSpc>
              <a:buNone/>
            </a:pP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1800</Words>
  <Application>Microsoft Office PowerPoint</Application>
  <PresentationFormat>Custom</PresentationFormat>
  <Paragraphs>139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DM Sans Medium</vt:lpstr>
      <vt:lpstr>Arial</vt:lpstr>
      <vt:lpstr>DM Sans Light</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SIVA SAI MARUTHI CHARAN YADLAPATI</dc:creator>
  <cp:lastModifiedBy>SIVA SAI MARUTHI CHARAN YADLAPATI</cp:lastModifiedBy>
  <cp:revision>4</cp:revision>
  <dcterms:created xsi:type="dcterms:W3CDTF">2025-08-28T14:14:18Z</dcterms:created>
  <dcterms:modified xsi:type="dcterms:W3CDTF">2026-02-05T14:01:28Z</dcterms:modified>
</cp:coreProperties>
</file>